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860c092-c6b7-c38d-1a24-3951745637f5}">
          <p14:sldIdLst>
            <p14:sldId id="256"/>
            <p14:sldId id="257"/>
            <p14:sldId id="258"/>
          </p14:sldIdLst>
        </p14:section>
        <p14:section name="Architecture et conception" id="{1ce7bed3-eb26-f0c6-b408-bdac285fd0ed}">
          <p14:sldIdLst>
            <p14:sldId id="259"/>
            <p14:sldId id="260"/>
            <p14:sldId id="261"/>
            <p14:sldId id="262"/>
          </p14:sldIdLst>
        </p14:section>
        <p14:section name="Parcours" id="{06e0af67-1901-454b-10a1-0d29c649a718}">
          <p14:sldIdLst>
            <p14:sldId id="263"/>
            <p14:sldId id="264"/>
          </p14:sldIdLst>
        </p14:section>
        <p14:section name="Sécurité" id="{7de6383b-ac15-261f-55ad-e7ef916629c0}">
          <p14:sldIdLst>
            <p14:sldId id="265"/>
            <p14:sldId id="266"/>
          </p14:sldIdLst>
        </p14:section>
        <p14:section name="Sensibilité des données" id="{465e6b10-2c2b-7471-4289-07bf47b6254f}">
          <p14:sldIdLst>
            <p14:sldId id="267"/>
            <p14:sldId id="268"/>
            <p14:sldId id="269"/>
            <p14:sldId id="270"/>
          </p14:sldIdLst>
        </p14:section>
        <p14:section name="Chiffrage et suite" id="{1b3506bc-3455-6cee-e883-06437bf4afa3}">
          <p14:sldIdLst>
            <p14:sldId id="271"/>
            <p14:sldId id="272"/>
            <p14:sldId id="273"/>
          </p14:sldIdLst>
        </p14:section>
        <p14:section name="Annexe" id="{5b6c1988-36b1-e25d-eb0c-d070445425be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API Chatbot – Contrats | Dataiku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API d'exposition des contrats pour le chatbot téléphonique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Contexte, architecture, conception, parcours et chiffrage</a:t>
            </a:r>
            <a:endParaRPr lang="en-US" sz="2000" dirty="0"/>
          </a:p>
        </p:txBody>
      </p:sp>
      <p:sp>
        <p:nvSpPr>
          <p:cNvPr id="4" name="Libelle_1"/>
          <p:cNvSpPr txBox="1"/>
          <p:nvPr/>
        </p:nvSpPr>
        <p:spPr>
          <a:xfrm>
            <a:off x="73152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Contexte du projet</a:t>
            </a:r>
            <a:endParaRPr lang="en-US" sz="2800" dirty="0"/>
          </a:p>
        </p:txBody>
      </p:sp>
      <p:sp>
        <p:nvSpPr>
          <p:cNvPr id="3" name="Libelle_2"/>
          <p:cNvSpPr txBox="1"/>
          <p:nvPr/>
        </p:nvSpPr>
        <p:spPr>
          <a:xfrm>
            <a:off x="457200" y="1188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Situation actuelle</a:t>
            </a:r>
            <a:endParaRPr lang="en-US" sz="1800" dirty="0"/>
          </a:p>
        </p:txBody>
      </p:sp>
      <p:sp>
        <p:nvSpPr>
          <p:cNvPr id="4" name="Texte_3"/>
          <p:cNvSpPr txBox="1"/>
          <p:nvPr/>
        </p:nvSpPr>
        <p:spPr>
          <a:xfrm>
            <a:off x="457200" y="16002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projet Dataiku, aujourd'hui en lab, produit un dataset de contrats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dataset est stocké dans IBM Cloud Object Storage (COS) en CSV compressé (.csv.gz)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projet doit passer du lab à la production</a:t>
            </a:r>
            <a:endParaRPr lang="en-US" sz="1500" dirty="0"/>
          </a:p>
        </p:txBody>
      </p:sp>
      <p:sp>
        <p:nvSpPr>
          <p:cNvPr id="5" name="Libelle_4"/>
          <p:cNvSpPr txBox="1"/>
          <p:nvPr/>
        </p:nvSpPr>
        <p:spPr>
          <a:xfrm>
            <a:off x="457200" y="3291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Objectif</a:t>
            </a:r>
            <a:endParaRPr lang="en-US" sz="1800" dirty="0"/>
          </a:p>
        </p:txBody>
      </p:sp>
      <p:sp>
        <p:nvSpPr>
          <p:cNvPr id="6" name="Texte_5"/>
          <p:cNvSpPr txBox="1"/>
          <p:nvPr/>
        </p:nvSpPr>
        <p:spPr>
          <a:xfrm>
            <a:off x="457200" y="370332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Exposer ces données via une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L'API est consommée par un chatbot que les clients appellent par téléphone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client s'identifie (SIREN pour la France, code pour le Royaume-Uni), confirme son identité, puis pose ses questions sur un ou plusieurs contrats</a:t>
            </a:r>
            <a:endParaRPr lang="en-US" sz="1500" dirty="0"/>
          </a:p>
        </p:txBody>
      </p:sp>
      <p:sp>
        <p:nvSpPr>
          <p:cNvPr id="7" name="Carte_6"/>
          <p:cNvSpPr/>
          <p:nvPr/>
        </p:nvSpPr>
        <p:spPr>
          <a:xfrm>
            <a:off x="7863840" y="123444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ibelle_7"/>
          <p:cNvSpPr txBox="1"/>
          <p:nvPr/>
        </p:nvSpPr>
        <p:spPr>
          <a:xfrm>
            <a:off x="809244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500 000</a:t>
            </a:r>
            <a:endParaRPr lang="en-US" sz="3200" dirty="0"/>
          </a:p>
        </p:txBody>
      </p:sp>
      <p:sp>
        <p:nvSpPr>
          <p:cNvPr id="9" name="Libelle_8"/>
          <p:cNvSpPr txBox="1"/>
          <p:nvPr/>
        </p:nvSpPr>
        <p:spPr>
          <a:xfrm>
            <a:off x="809244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lignes (une ligne par contrat)</a:t>
            </a:r>
            <a:endParaRPr lang="en-US" sz="1200" dirty="0"/>
          </a:p>
        </p:txBody>
      </p:sp>
      <p:sp>
        <p:nvSpPr>
          <p:cNvPr id="10" name="Carte_9"/>
          <p:cNvSpPr/>
          <p:nvPr/>
        </p:nvSpPr>
        <p:spPr>
          <a:xfrm>
            <a:off x="7863840" y="283464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ibelle_10"/>
          <p:cNvSpPr txBox="1"/>
          <p:nvPr/>
        </p:nvSpPr>
        <p:spPr>
          <a:xfrm>
            <a:off x="809244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50 Mo</a:t>
            </a:r>
            <a:endParaRPr lang="en-US" sz="3200" dirty="0"/>
          </a:p>
        </p:txBody>
      </p:sp>
      <p:sp>
        <p:nvSpPr>
          <p:cNvPr id="12" name="Libelle_11"/>
          <p:cNvSpPr txBox="1"/>
          <p:nvPr/>
        </p:nvSpPr>
        <p:spPr>
          <a:xfrm>
            <a:off x="809244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fichier CSV compressé</a:t>
            </a:r>
            <a:endParaRPr lang="en-US" sz="1200" dirty="0"/>
          </a:p>
        </p:txBody>
      </p:sp>
      <p:sp>
        <p:nvSpPr>
          <p:cNvPr id="13" name="Carte_12"/>
          <p:cNvSpPr/>
          <p:nvPr/>
        </p:nvSpPr>
        <p:spPr>
          <a:xfrm>
            <a:off x="7863840" y="443484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belle_13"/>
          <p:cNvSpPr txBox="1"/>
          <p:nvPr/>
        </p:nvSpPr>
        <p:spPr>
          <a:xfrm>
            <a:off x="8092440" y="4572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1 000</a:t>
            </a:r>
            <a:endParaRPr lang="en-US" sz="3200" dirty="0"/>
          </a:p>
        </p:txBody>
      </p:sp>
      <p:sp>
        <p:nvSpPr>
          <p:cNvPr id="15" name="Libelle_14"/>
          <p:cNvSpPr txBox="1"/>
          <p:nvPr/>
        </p:nvSpPr>
        <p:spPr>
          <a:xfrm>
            <a:off x="8092440" y="5212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contrats maximum par client, majoritairement terminés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Parcours de l'appelant</a:t>
            </a:r>
            <a:endParaRPr lang="en-US" sz="2800" dirty="0"/>
          </a:p>
        </p:txBody>
      </p:sp>
      <p:sp>
        <p:nvSpPr>
          <p:cNvPr id="3" name="Etape_15"/>
          <p:cNvSpPr/>
          <p:nvPr/>
        </p:nvSpPr>
        <p:spPr>
          <a:xfrm>
            <a:off x="457200" y="1737360"/>
            <a:ext cx="329184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Numero_16"/>
          <p:cNvSpPr/>
          <p:nvPr/>
        </p:nvSpPr>
        <p:spPr>
          <a:xfrm>
            <a:off x="731520" y="2011680"/>
            <a:ext cx="731520" cy="7315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Libelle_17"/>
          <p:cNvSpPr txBox="1"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Identification</a:t>
            </a:r>
            <a:endParaRPr lang="en-US" sz="1800" dirty="0"/>
          </a:p>
        </p:txBody>
      </p:sp>
      <p:sp>
        <p:nvSpPr>
          <p:cNvPr id="6" name="Libelle_18"/>
          <p:cNvSpPr txBox="1"/>
          <p:nvPr/>
        </p:nvSpPr>
        <p:spPr>
          <a:xfrm>
            <a:off x="731520" y="3429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client donne son SIREN (France) ou son code (Royaume-Uni)</a:t>
            </a:r>
            <a:endParaRPr lang="en-US" sz="1400" dirty="0"/>
          </a:p>
        </p:txBody>
      </p:sp>
      <p:sp>
        <p:nvSpPr>
          <p:cNvPr id="7" name="Fleche_19"/>
          <p:cNvSpPr/>
          <p:nvPr/>
        </p:nvSpPr>
        <p:spPr>
          <a:xfrm>
            <a:off x="3794760" y="3291840"/>
            <a:ext cx="548640" cy="0"/>
          </a:xfrm>
          <a:prstGeom prst="line">
            <a:avLst/>
          </a:prstGeom>
          <a:noFill/>
          <a:ln w="25400">
            <a:solidFill>
              <a:srgbClr val="00855F"/>
            </a:solidFill>
            <a:prstDash val="solid"/>
            <a:tailEnd type="triangle"/>
          </a:ln>
        </p:spPr>
      </p:sp>
      <p:sp>
        <p:nvSpPr>
          <p:cNvPr id="8" name="Etape_20"/>
          <p:cNvSpPr/>
          <p:nvPr/>
        </p:nvSpPr>
        <p:spPr>
          <a:xfrm>
            <a:off x="4389120" y="1737360"/>
            <a:ext cx="329184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Numero_21"/>
          <p:cNvSpPr/>
          <p:nvPr/>
        </p:nvSpPr>
        <p:spPr>
          <a:xfrm>
            <a:off x="4663440" y="2011680"/>
            <a:ext cx="731520" cy="7315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Libelle_22"/>
          <p:cNvSpPr txBox="1"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Vérification</a:t>
            </a:r>
            <a:endParaRPr lang="en-US" sz="1800" dirty="0"/>
          </a:p>
        </p:txBody>
      </p:sp>
      <p:sp>
        <p:nvSpPr>
          <p:cNvPr id="11" name="Libelle_23"/>
          <p:cNvSpPr txBox="1"/>
          <p:nvPr/>
        </p:nvSpPr>
        <p:spPr>
          <a:xfrm>
            <a:off x="4663440" y="3429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chatbot demande le nom de la société et le compare à la désignation renvoyée par l'API</a:t>
            </a:r>
            <a:endParaRPr lang="en-US" sz="1400" dirty="0"/>
          </a:p>
        </p:txBody>
      </p:sp>
      <p:sp>
        <p:nvSpPr>
          <p:cNvPr id="12" name="Fleche_24"/>
          <p:cNvSpPr/>
          <p:nvPr/>
        </p:nvSpPr>
        <p:spPr>
          <a:xfrm>
            <a:off x="7726680" y="3291840"/>
            <a:ext cx="548640" cy="0"/>
          </a:xfrm>
          <a:prstGeom prst="line">
            <a:avLst/>
          </a:prstGeom>
          <a:noFill/>
          <a:ln w="25400">
            <a:solidFill>
              <a:srgbClr val="00855F"/>
            </a:solidFill>
            <a:prstDash val="solid"/>
            <a:tailEnd type="triangle"/>
          </a:ln>
        </p:spPr>
      </p:sp>
      <p:sp>
        <p:nvSpPr>
          <p:cNvPr id="13" name="Etape_25"/>
          <p:cNvSpPr/>
          <p:nvPr/>
        </p:nvSpPr>
        <p:spPr>
          <a:xfrm>
            <a:off x="8321040" y="1737360"/>
            <a:ext cx="329184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Numero_26"/>
          <p:cNvSpPr/>
          <p:nvPr/>
        </p:nvSpPr>
        <p:spPr>
          <a:xfrm>
            <a:off x="8595360" y="2011680"/>
            <a:ext cx="731520" cy="7315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Libelle_27"/>
          <p:cNvSpPr txBox="1"/>
          <p:nvPr/>
        </p:nvSpPr>
        <p:spPr>
          <a:xfrm>
            <a:off x="859536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Questions sur le contrat</a:t>
            </a:r>
            <a:endParaRPr lang="en-US" sz="1800" dirty="0"/>
          </a:p>
        </p:txBody>
      </p:sp>
      <p:sp>
        <p:nvSpPr>
          <p:cNvPr id="16" name="Libelle_28"/>
          <p:cNvSpPr txBox="1"/>
          <p:nvPr/>
        </p:nvSpPr>
        <p:spPr>
          <a:xfrm>
            <a:off x="8595360" y="3429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client donne un n° de contrat et pose ses questions. Il peut recommencer pour un autre contrat</a:t>
            </a:r>
            <a:endParaRPr lang="en-US" sz="1400" dirty="0"/>
          </a:p>
        </p:txBody>
      </p:sp>
      <p:sp>
        <p:nvSpPr>
          <p:cNvPr id="17" name="Note_29"/>
          <p:cNvSpPr/>
          <p:nvPr/>
        </p:nvSpPr>
        <p:spPr>
          <a:xfrm>
            <a:off x="457200" y="5257800"/>
            <a:ext cx="11155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ibelle_30"/>
          <p:cNvSpPr txBox="1"/>
          <p:nvPr/>
        </p:nvSpPr>
        <p:spPr>
          <a:xfrm>
            <a:off x="73152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couple identifiant + n° de contrat est unique. Un client peut avoir jusqu'à 1 000 contrats.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Décisions d'architecture</a:t>
            </a:r>
            <a:endParaRPr lang="en-US" sz="2800" dirty="0"/>
          </a:p>
        </p:txBody>
      </p:sp>
      <p:graphicFrame>
        <p:nvGraphicFramePr>
          <p:cNvPr id="5" name="Tableau_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374904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Décision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Choix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Stockage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CSV du COS chargé dans PostgreSQL de prod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Recherche instantanée sur 500 000 lignes, mise à jour sans redéployer l'API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Organisation de l'API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service, 2 endpoints : identify et contract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 seul déploiement, une seule sécurité, un seul suivi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Type d'endpoint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 query (Dataiku)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Gère un client à 1 000 contrats, pas de table « clients » en double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Mise à jour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seule table, mise à jour hors heures d'appel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Plus simple ; pas d'appels pendant le rafraîchissement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Identifiant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Pays + identifiant nettoyé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Tolère les formats dictés, évite la confusion SIREN / code UK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Vérification de la désignation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 le chatbot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Cohérent avec 2 endpoints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Accès au 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 chatbot n'appelle contract qu'après identification ; l'API exige identifiant + n° 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Double sécurité : impossible de lire le contrat d'un autre client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Schéma d'architecture</a:t>
            </a:r>
            <a:endParaRPr lang="en-US" sz="2800" dirty="0"/>
          </a:p>
        </p:txBody>
      </p:sp>
      <p:sp>
        <p:nvSpPr>
          <p:cNvPr id="3" name="Libelle_32"/>
          <p:cNvSpPr txBox="1"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Temps réel (pendant l'appel)</a:t>
            </a:r>
            <a:endParaRPr lang="en-US" sz="1200" dirty="0"/>
          </a:p>
        </p:txBody>
      </p:sp>
      <p:sp>
        <p:nvSpPr>
          <p:cNvPr id="4" name="Client_33"/>
          <p:cNvSpPr/>
          <p:nvPr/>
        </p:nvSpPr>
        <p:spPr>
          <a:xfrm>
            <a:off x="457200" y="17373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(téléphone)</a:t>
            </a:r>
            <a:endParaRPr lang="en-US" sz="1300" dirty="0"/>
          </a:p>
        </p:txBody>
      </p:sp>
      <p:sp>
        <p:nvSpPr>
          <p:cNvPr id="5" name="Chatbot_34"/>
          <p:cNvSpPr/>
          <p:nvPr/>
        </p:nvSpPr>
        <p:spPr>
          <a:xfrm>
            <a:off x="2834640" y="17373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Chatbot vocal</a:t>
            </a:r>
            <a:endParaRPr lang="en-US" sz="1300" dirty="0"/>
          </a:p>
        </p:txBody>
      </p:sp>
      <p:sp>
        <p:nvSpPr>
          <p:cNvPr id="6" name="APINode_35"/>
          <p:cNvSpPr/>
          <p:nvPr/>
        </p:nvSpPr>
        <p:spPr>
          <a:xfrm>
            <a:off x="5486400" y="1371600"/>
            <a:ext cx="32918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Libelle_36"/>
          <p:cNvSpPr txBox="1"/>
          <p:nvPr/>
        </p:nvSpPr>
        <p:spPr>
          <a:xfrm>
            <a:off x="5623560" y="1444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API Node Dataiku – 1 service API</a:t>
            </a:r>
            <a:endParaRPr lang="en-US" sz="1200" dirty="0"/>
          </a:p>
        </p:txBody>
      </p:sp>
      <p:sp>
        <p:nvSpPr>
          <p:cNvPr id="8" name="Endpoint_identify_37"/>
          <p:cNvSpPr/>
          <p:nvPr/>
        </p:nvSpPr>
        <p:spPr>
          <a:xfrm>
            <a:off x="5669280" y="1874520"/>
            <a:ext cx="13716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identify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(SQL query)</a:t>
            </a:r>
            <a:endParaRPr lang="en-US" sz="1200" dirty="0"/>
          </a:p>
        </p:txBody>
      </p:sp>
      <p:sp>
        <p:nvSpPr>
          <p:cNvPr id="9" name="Endpoint_contract_38"/>
          <p:cNvSpPr/>
          <p:nvPr/>
        </p:nvSpPr>
        <p:spPr>
          <a:xfrm>
            <a:off x="7223760" y="1874520"/>
            <a:ext cx="13716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(SQL query)</a:t>
            </a:r>
            <a:endParaRPr lang="en-US" sz="1200" dirty="0"/>
          </a:p>
        </p:txBody>
      </p:sp>
      <p:sp>
        <p:nvSpPr>
          <p:cNvPr id="10" name="PostgreSQL_39"/>
          <p:cNvSpPr/>
          <p:nvPr/>
        </p:nvSpPr>
        <p:spPr>
          <a:xfrm>
            <a:off x="9509760" y="1554480"/>
            <a:ext cx="2194560" cy="1417320"/>
          </a:xfrm>
          <a:prstGeom prst="can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 de prod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Table contrats + index</a:t>
            </a:r>
            <a:endParaRPr lang="en-US" sz="1200" dirty="0"/>
          </a:p>
        </p:txBody>
      </p:sp>
      <p:sp>
        <p:nvSpPr>
          <p:cNvPr id="11" name="Fleche_40"/>
          <p:cNvSpPr/>
          <p:nvPr/>
        </p:nvSpPr>
        <p:spPr>
          <a:xfrm>
            <a:off x="2194560" y="2194560"/>
            <a:ext cx="64008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headEnd type="triangle"/>
            <a:tailEnd type="triangle"/>
          </a:ln>
        </p:spPr>
      </p:sp>
      <p:sp>
        <p:nvSpPr>
          <p:cNvPr id="12" name="Libelle_41"/>
          <p:cNvSpPr txBox="1"/>
          <p:nvPr/>
        </p:nvSpPr>
        <p:spPr>
          <a:xfrm>
            <a:off x="219456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Voix</a:t>
            </a:r>
            <a:endParaRPr lang="en-US" sz="1000" dirty="0"/>
          </a:p>
        </p:txBody>
      </p:sp>
      <p:sp>
        <p:nvSpPr>
          <p:cNvPr id="13" name="Fleche_42"/>
          <p:cNvSpPr/>
          <p:nvPr/>
        </p:nvSpPr>
        <p:spPr>
          <a:xfrm>
            <a:off x="4754880" y="2194560"/>
            <a:ext cx="73152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headEnd type="triangle"/>
            <a:tailEnd type="triangle"/>
          </a:ln>
        </p:spPr>
      </p:sp>
      <p:sp>
        <p:nvSpPr>
          <p:cNvPr id="14" name="Libelle_43"/>
          <p:cNvSpPr txBox="1"/>
          <p:nvPr/>
        </p:nvSpPr>
        <p:spPr>
          <a:xfrm>
            <a:off x="475488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HTTPS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+ clé API</a:t>
            </a:r>
            <a:endParaRPr lang="en-US" sz="900" dirty="0"/>
          </a:p>
        </p:txBody>
      </p:sp>
      <p:sp>
        <p:nvSpPr>
          <p:cNvPr id="15" name="Fleche_44"/>
          <p:cNvSpPr/>
          <p:nvPr/>
        </p:nvSpPr>
        <p:spPr>
          <a:xfrm>
            <a:off x="8778240" y="2194560"/>
            <a:ext cx="73152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headEnd type="triangle"/>
            <a:tailEnd type="triangle"/>
          </a:ln>
        </p:spPr>
      </p:sp>
      <p:sp>
        <p:nvSpPr>
          <p:cNvPr id="16" name="Libelle_45"/>
          <p:cNvSpPr txBox="1"/>
          <p:nvPr/>
        </p:nvSpPr>
        <p:spPr>
          <a:xfrm>
            <a:off x="877824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Lecture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seule</a:t>
            </a:r>
            <a:endParaRPr lang="en-US" sz="900" dirty="0"/>
          </a:p>
        </p:txBody>
      </p:sp>
      <p:sp>
        <p:nvSpPr>
          <p:cNvPr id="17" name="Libelle_46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Alimentation des données (hors heures d'appel)</a:t>
            </a:r>
            <a:endParaRPr lang="en-US" sz="1200" dirty="0"/>
          </a:p>
        </p:txBody>
      </p:sp>
      <p:sp>
        <p:nvSpPr>
          <p:cNvPr id="18" name="COS_47"/>
          <p:cNvSpPr/>
          <p:nvPr/>
        </p:nvSpPr>
        <p:spPr>
          <a:xfrm>
            <a:off x="457200" y="4343400"/>
            <a:ext cx="1737360" cy="1463040"/>
          </a:xfrm>
          <a:prstGeom prst="can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IBM COS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Fichier .csv.gz</a:t>
            </a:r>
            <a:endParaRPr lang="en-US" sz="1200" dirty="0"/>
          </a:p>
        </p:txBody>
      </p:sp>
      <p:sp>
        <p:nvSpPr>
          <p:cNvPr id="19" name="Flow_48"/>
          <p:cNvSpPr/>
          <p:nvPr/>
        </p:nvSpPr>
        <p:spPr>
          <a:xfrm>
            <a:off x="2834640" y="4069080"/>
            <a:ext cx="59436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Libelle_49"/>
          <p:cNvSpPr txBox="1"/>
          <p:nvPr/>
        </p:nvSpPr>
        <p:spPr>
          <a:xfrm>
            <a:off x="2971800" y="41422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Flow Dataiku (production) – scénario planifié</a:t>
            </a:r>
            <a:endParaRPr lang="en-US" sz="1200" dirty="0"/>
          </a:p>
        </p:txBody>
      </p:sp>
      <p:sp>
        <p:nvSpPr>
          <p:cNvPr id="21" name="Etape_flow_50"/>
          <p:cNvSpPr/>
          <p:nvPr/>
        </p:nvSpPr>
        <p:spPr>
          <a:xfrm>
            <a:off x="3017520" y="4663440"/>
            <a:ext cx="1234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Chargement</a:t>
            </a:r>
            <a:endParaRPr lang="en-US" sz="1100" dirty="0"/>
          </a:p>
        </p:txBody>
      </p:sp>
      <p:sp>
        <p:nvSpPr>
          <p:cNvPr id="22" name="Fleche_51"/>
          <p:cNvSpPr/>
          <p:nvPr/>
        </p:nvSpPr>
        <p:spPr>
          <a:xfrm>
            <a:off x="4251960" y="5166360"/>
            <a:ext cx="201168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3" name="Etape_flow_52"/>
          <p:cNvSpPr/>
          <p:nvPr/>
        </p:nvSpPr>
        <p:spPr>
          <a:xfrm>
            <a:off x="4453128" y="4663440"/>
            <a:ext cx="1234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Nettoyage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(pays, identifiant)</a:t>
            </a:r>
            <a:endParaRPr lang="en-US" sz="1100" dirty="0"/>
          </a:p>
        </p:txBody>
      </p:sp>
      <p:sp>
        <p:nvSpPr>
          <p:cNvPr id="24" name="Fleche_53"/>
          <p:cNvSpPr/>
          <p:nvPr/>
        </p:nvSpPr>
        <p:spPr>
          <a:xfrm>
            <a:off x="5687568" y="5166360"/>
            <a:ext cx="201168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5" name="Etape_flow_54"/>
          <p:cNvSpPr/>
          <p:nvPr/>
        </p:nvSpPr>
        <p:spPr>
          <a:xfrm>
            <a:off x="5888736" y="4663440"/>
            <a:ext cx="1234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Contrôles qualité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(bloquants)</a:t>
            </a:r>
            <a:endParaRPr lang="en-US" sz="1100" dirty="0"/>
          </a:p>
        </p:txBody>
      </p:sp>
      <p:sp>
        <p:nvSpPr>
          <p:cNvPr id="26" name="Fleche_55"/>
          <p:cNvSpPr/>
          <p:nvPr/>
        </p:nvSpPr>
        <p:spPr>
          <a:xfrm>
            <a:off x="7123176" y="5166360"/>
            <a:ext cx="201168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7" name="Etape_flow_56"/>
          <p:cNvSpPr/>
          <p:nvPr/>
        </p:nvSpPr>
        <p:spPr>
          <a:xfrm>
            <a:off x="7324344" y="4663440"/>
            <a:ext cx="1234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Écriture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+ index</a:t>
            </a:r>
            <a:endParaRPr lang="en-US" sz="1100" dirty="0"/>
          </a:p>
        </p:txBody>
      </p:sp>
      <p:sp>
        <p:nvSpPr>
          <p:cNvPr id="28" name="Fleche_57"/>
          <p:cNvSpPr/>
          <p:nvPr/>
        </p:nvSpPr>
        <p:spPr>
          <a:xfrm>
            <a:off x="2194560" y="5074920"/>
            <a:ext cx="64008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9" name="Fleche_58"/>
          <p:cNvSpPr/>
          <p:nvPr/>
        </p:nvSpPr>
        <p:spPr>
          <a:xfrm>
            <a:off x="8778240" y="5074920"/>
            <a:ext cx="18288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</a:ln>
        </p:spPr>
      </p:sp>
      <p:sp>
        <p:nvSpPr>
          <p:cNvPr id="30" name="Fleche_59"/>
          <p:cNvSpPr/>
          <p:nvPr/>
        </p:nvSpPr>
        <p:spPr>
          <a:xfrm flipV="1">
            <a:off x="10607040" y="2971800"/>
            <a:ext cx="0" cy="210312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31" name="Libelle_60"/>
          <p:cNvSpPr txBox="1"/>
          <p:nvPr/>
        </p:nvSpPr>
        <p:spPr>
          <a:xfrm>
            <a:off x="1074420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Écriture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(utilisateur dédié)</a:t>
            </a:r>
            <a:endParaRPr lang="en-US" sz="900" dirty="0"/>
          </a:p>
        </p:txBody>
      </p:sp>
      <p:sp>
        <p:nvSpPr>
          <p:cNvPr id="32" name="Libelle_61"/>
          <p:cNvSpPr txBox="1"/>
          <p:nvPr/>
        </p:nvSpPr>
        <p:spPr>
          <a:xfrm>
            <a:off x="2834640" y="6126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Alertes en cas d'échec du scénario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Conception de l'API</a:t>
            </a:r>
            <a:endParaRPr lang="en-US" sz="2800" dirty="0"/>
          </a:p>
        </p:txBody>
      </p:sp>
      <p:sp>
        <p:nvSpPr>
          <p:cNvPr id="3" name="Carte_62"/>
          <p:cNvSpPr/>
          <p:nvPr/>
        </p:nvSpPr>
        <p:spPr>
          <a:xfrm>
            <a:off x="457200" y="1188720"/>
            <a:ext cx="544068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Endpoint_63"/>
          <p:cNvSpPr/>
          <p:nvPr/>
        </p:nvSpPr>
        <p:spPr>
          <a:xfrm>
            <a:off x="685800" y="137160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identify</a:t>
            </a:r>
            <a:endParaRPr lang="en-US" sz="1600" dirty="0"/>
          </a:p>
        </p:txBody>
      </p:sp>
      <p:sp>
        <p:nvSpPr>
          <p:cNvPr id="5" name="Libelle_64"/>
          <p:cNvSpPr txBox="1"/>
          <p:nvPr/>
        </p:nvSpPr>
        <p:spPr>
          <a:xfrm>
            <a:off x="24688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Endpoint SQL query</a:t>
            </a:r>
            <a:endParaRPr lang="en-US" sz="1200" dirty="0"/>
          </a:p>
        </p:txBody>
      </p:sp>
      <p:sp>
        <p:nvSpPr>
          <p:cNvPr id="6" name="Libelle_65"/>
          <p:cNvSpPr txBox="1"/>
          <p:nvPr/>
        </p:nvSpPr>
        <p:spPr>
          <a:xfrm>
            <a:off x="685800" y="20574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Entrée</a:t>
            </a:r>
            <a:endParaRPr lang="en-US" sz="1300" dirty="0"/>
          </a:p>
        </p:txBody>
      </p:sp>
      <p:sp>
        <p:nvSpPr>
          <p:cNvPr id="7" name="Libelle_66"/>
          <p:cNvSpPr txBox="1"/>
          <p:nvPr/>
        </p:nvSpPr>
        <p:spPr>
          <a:xfrm>
            <a:off x="1737360" y="20574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pays, identifiant (SIREN ou code UK)</a:t>
            </a:r>
            <a:endParaRPr lang="en-US" sz="1300" dirty="0"/>
          </a:p>
        </p:txBody>
      </p:sp>
      <p:sp>
        <p:nvSpPr>
          <p:cNvPr id="8" name="Libelle_67"/>
          <p:cNvSpPr txBox="1"/>
          <p:nvPr/>
        </p:nvSpPr>
        <p:spPr>
          <a:xfrm>
            <a:off x="685800" y="28346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Sortie</a:t>
            </a:r>
            <a:endParaRPr lang="en-US" sz="1300" dirty="0"/>
          </a:p>
        </p:txBody>
      </p:sp>
      <p:sp>
        <p:nvSpPr>
          <p:cNvPr id="9" name="Libelle_68"/>
          <p:cNvSpPr txBox="1"/>
          <p:nvPr/>
        </p:nvSpPr>
        <p:spPr>
          <a:xfrm>
            <a:off x="1737360" y="28346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désignation + nombre de désignations différentes</a:t>
            </a:r>
            <a:endParaRPr lang="en-US" sz="1300" dirty="0"/>
          </a:p>
        </p:txBody>
      </p:sp>
      <p:sp>
        <p:nvSpPr>
          <p:cNvPr id="10" name="Libelle_69"/>
          <p:cNvSpPr txBox="1"/>
          <p:nvPr/>
        </p:nvSpPr>
        <p:spPr>
          <a:xfrm>
            <a:off x="685800" y="3611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Règle</a:t>
            </a:r>
            <a:endParaRPr lang="en-US" sz="1300" dirty="0"/>
          </a:p>
        </p:txBody>
      </p:sp>
      <p:sp>
        <p:nvSpPr>
          <p:cNvPr id="11" name="Libelle_70"/>
          <p:cNvSpPr txBox="1"/>
          <p:nvPr/>
        </p:nvSpPr>
        <p:spPr>
          <a:xfrm>
            <a:off x="1737360" y="3611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 plus d'une désignation : donnée incohérente, le chatbot met fin à l'identification</a:t>
            </a:r>
            <a:endParaRPr lang="en-US" sz="1300" dirty="0"/>
          </a:p>
        </p:txBody>
      </p:sp>
      <p:sp>
        <p:nvSpPr>
          <p:cNvPr id="12" name="Carte_71"/>
          <p:cNvSpPr/>
          <p:nvPr/>
        </p:nvSpPr>
        <p:spPr>
          <a:xfrm>
            <a:off x="6172200" y="1188720"/>
            <a:ext cx="544068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Endpoint_72"/>
          <p:cNvSpPr/>
          <p:nvPr/>
        </p:nvSpPr>
        <p:spPr>
          <a:xfrm>
            <a:off x="6400800" y="137160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contract</a:t>
            </a:r>
            <a:endParaRPr lang="en-US" sz="1600" dirty="0"/>
          </a:p>
        </p:txBody>
      </p:sp>
      <p:sp>
        <p:nvSpPr>
          <p:cNvPr id="14" name="Libelle_73"/>
          <p:cNvSpPr txBox="1"/>
          <p:nvPr/>
        </p:nvSpPr>
        <p:spPr>
          <a:xfrm>
            <a:off x="81838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Endpoint SQL query</a:t>
            </a:r>
            <a:endParaRPr lang="en-US" sz="1200" dirty="0"/>
          </a:p>
        </p:txBody>
      </p:sp>
      <p:sp>
        <p:nvSpPr>
          <p:cNvPr id="15" name="Libelle_74"/>
          <p:cNvSpPr txBox="1"/>
          <p:nvPr/>
        </p:nvSpPr>
        <p:spPr>
          <a:xfrm>
            <a:off x="6400800" y="20574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Entrée</a:t>
            </a:r>
            <a:endParaRPr lang="en-US" sz="1300" dirty="0"/>
          </a:p>
        </p:txBody>
      </p:sp>
      <p:sp>
        <p:nvSpPr>
          <p:cNvPr id="16" name="Libelle_75"/>
          <p:cNvSpPr txBox="1"/>
          <p:nvPr/>
        </p:nvSpPr>
        <p:spPr>
          <a:xfrm>
            <a:off x="7452360" y="20574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pays, identifiant, n° de contrat</a:t>
            </a:r>
            <a:endParaRPr lang="en-US" sz="1300" dirty="0"/>
          </a:p>
        </p:txBody>
      </p:sp>
      <p:sp>
        <p:nvSpPr>
          <p:cNvPr id="17" name="Libelle_76"/>
          <p:cNvSpPr txBox="1"/>
          <p:nvPr/>
        </p:nvSpPr>
        <p:spPr>
          <a:xfrm>
            <a:off x="6400800" y="28346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Sortie</a:t>
            </a:r>
            <a:endParaRPr lang="en-US" sz="1300" dirty="0"/>
          </a:p>
        </p:txBody>
      </p:sp>
      <p:sp>
        <p:nvSpPr>
          <p:cNvPr id="18" name="Libelle_77"/>
          <p:cNvSpPr txBox="1"/>
          <p:nvPr/>
        </p:nvSpPr>
        <p:spPr>
          <a:xfrm>
            <a:off x="7452360" y="28346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toutes les colonnes de la ligne du contrat (dont statut)</a:t>
            </a:r>
            <a:endParaRPr lang="en-US" sz="1300" dirty="0"/>
          </a:p>
        </p:txBody>
      </p:sp>
      <p:sp>
        <p:nvSpPr>
          <p:cNvPr id="19" name="Libelle_78"/>
          <p:cNvSpPr txBox="1"/>
          <p:nvPr/>
        </p:nvSpPr>
        <p:spPr>
          <a:xfrm>
            <a:off x="6400800" y="3611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Règle</a:t>
            </a:r>
            <a:endParaRPr lang="en-US" sz="1300" dirty="0"/>
          </a:p>
        </p:txBody>
      </p:sp>
      <p:sp>
        <p:nvSpPr>
          <p:cNvPr id="20" name="Libelle_79"/>
          <p:cNvSpPr txBox="1"/>
          <p:nvPr/>
        </p:nvSpPr>
        <p:spPr>
          <a:xfrm>
            <a:off x="7452360" y="3611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Contrat inexistant ou d'un autre client : même réponse vide, aucune fuite</a:t>
            </a:r>
            <a:endParaRPr lang="en-US" sz="1300" dirty="0"/>
          </a:p>
        </p:txBody>
      </p:sp>
      <p:sp>
        <p:nvSpPr>
          <p:cNvPr id="21" name="Principes_80"/>
          <p:cNvSpPr/>
          <p:nvPr/>
        </p:nvSpPr>
        <p:spPr>
          <a:xfrm>
            <a:off x="457200" y="4663440"/>
            <a:ext cx="11155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Libelle_81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Principes communs</a:t>
            </a:r>
            <a:endParaRPr lang="en-US" sz="1400" dirty="0"/>
          </a:p>
        </p:txBody>
      </p:sp>
      <p:sp>
        <p:nvSpPr>
          <p:cNvPr id="23" name="Texte_82"/>
          <p:cNvSpPr txBox="1"/>
          <p:nvPr/>
        </p:nvSpPr>
        <p:spPr>
          <a:xfrm>
            <a:off x="731520" y="5120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API sans état : le chatbot garde l'identifiant et le renvoie à chaque appel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Requêtes paramétrées ; accès PostgreSQL en lecture seule ; pool de connexions réglable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Authentification par clé API (à confirmer dans la documentation Dataiku 13.2)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Conception des données</a:t>
            </a:r>
            <a:endParaRPr lang="en-US" sz="2800" dirty="0"/>
          </a:p>
        </p:txBody>
      </p:sp>
      <p:sp>
        <p:nvSpPr>
          <p:cNvPr id="3" name="Libelle_83"/>
          <p:cNvSpPr txBox="1"/>
          <p:nvPr/>
        </p:nvSpPr>
        <p:spPr>
          <a:xfrm>
            <a:off x="45720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Table contrats (PostgreSQL de prod)</a:t>
            </a:r>
            <a:endParaRPr lang="en-US" sz="1600" dirty="0"/>
          </a:p>
        </p:txBody>
      </p:sp>
      <p:graphicFrame>
        <p:nvGraphicFramePr>
          <p:cNvPr id="8" name="Tableau_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Colonne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pays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Ajoutée : FR ou UK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identifiant_nettoye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Ajoutée : majuscules, sans espaces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identifiant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SIREN ou code UK d'origine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designation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Nom à confirmer par le client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numero_contrat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Clé du 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statut, dates…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Informations du 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autres colonnes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Réponses aux questions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te_85"/>
          <p:cNvSpPr/>
          <p:nvPr/>
        </p:nvSpPr>
        <p:spPr>
          <a:xfrm>
            <a:off x="6583680" y="1097280"/>
            <a:ext cx="5120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belle_86"/>
          <p:cNvSpPr txBox="1"/>
          <p:nvPr/>
        </p:nvSpPr>
        <p:spPr>
          <a:xfrm>
            <a:off x="6812280" y="1188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Index</a:t>
            </a:r>
            <a:endParaRPr lang="en-US" sz="1400" dirty="0"/>
          </a:p>
        </p:txBody>
      </p:sp>
      <p:sp>
        <p:nvSpPr>
          <p:cNvPr id="7" name="Libelle_87"/>
          <p:cNvSpPr txBox="1"/>
          <p:nvPr/>
        </p:nvSpPr>
        <p:spPr>
          <a:xfrm>
            <a:off x="6812280" y="1508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sur (pays, identifiant, n° contrat) et simple sur (pays, identifiant) : réponses rapides</a:t>
            </a:r>
            <a:endParaRPr lang="en-US" sz="1200" dirty="0"/>
          </a:p>
        </p:txBody>
      </p:sp>
      <p:sp>
        <p:nvSpPr>
          <p:cNvPr id="8" name="Carte_88"/>
          <p:cNvSpPr/>
          <p:nvPr/>
        </p:nvSpPr>
        <p:spPr>
          <a:xfrm>
            <a:off x="6583680" y="2377440"/>
            <a:ext cx="5120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belle_89"/>
          <p:cNvSpPr txBox="1"/>
          <p:nvPr/>
        </p:nvSpPr>
        <p:spPr>
          <a:xfrm>
            <a:off x="6812280" y="2468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Mise à jour</a:t>
            </a:r>
            <a:endParaRPr lang="en-US" sz="1400" dirty="0"/>
          </a:p>
        </p:txBody>
      </p:sp>
      <p:sp>
        <p:nvSpPr>
          <p:cNvPr id="10" name="Libelle_90"/>
          <p:cNvSpPr txBox="1"/>
          <p:nvPr/>
        </p:nvSpPr>
        <p:spPr>
          <a:xfrm>
            <a:off x="6812280" y="2788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Scénario planifié hors heures d'appel, une seule table</a:t>
            </a:r>
            <a:endParaRPr lang="en-US" sz="1200" dirty="0"/>
          </a:p>
        </p:txBody>
      </p:sp>
      <p:sp>
        <p:nvSpPr>
          <p:cNvPr id="11" name="Carte_91"/>
          <p:cNvSpPr/>
          <p:nvPr/>
        </p:nvSpPr>
        <p:spPr>
          <a:xfrm>
            <a:off x="6583680" y="3657600"/>
            <a:ext cx="5120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ibelle_92"/>
          <p:cNvSpPr txBox="1"/>
          <p:nvPr/>
        </p:nvSpPr>
        <p:spPr>
          <a:xfrm>
            <a:off x="6812280" y="3749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Contrôles qualité</a:t>
            </a:r>
            <a:endParaRPr lang="en-US" sz="1400" dirty="0"/>
          </a:p>
        </p:txBody>
      </p:sp>
      <p:sp>
        <p:nvSpPr>
          <p:cNvPr id="13" name="Libelle_93"/>
          <p:cNvSpPr txBox="1"/>
          <p:nvPr/>
        </p:nvSpPr>
        <p:spPr>
          <a:xfrm>
            <a:off x="6812280" y="4069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Schéma, volumétrie, doublons, valeurs vides, désignations incohérentes : mise à jour bloquée si échec</a:t>
            </a:r>
            <a:endParaRPr lang="en-US" sz="1200" dirty="0"/>
          </a:p>
        </p:txBody>
      </p:sp>
      <p:sp>
        <p:nvSpPr>
          <p:cNvPr id="14" name="Carte_94"/>
          <p:cNvSpPr/>
          <p:nvPr/>
        </p:nvSpPr>
        <p:spPr>
          <a:xfrm>
            <a:off x="6583680" y="4937760"/>
            <a:ext cx="5120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Libelle_95"/>
          <p:cNvSpPr txBox="1"/>
          <p:nvPr/>
        </p:nvSpPr>
        <p:spPr>
          <a:xfrm>
            <a:off x="681228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Accès</a:t>
            </a:r>
            <a:endParaRPr lang="en-US" sz="1400" dirty="0"/>
          </a:p>
        </p:txBody>
      </p:sp>
      <p:sp>
        <p:nvSpPr>
          <p:cNvPr id="16" name="Libelle_96"/>
          <p:cNvSpPr txBox="1"/>
          <p:nvPr/>
        </p:nvSpPr>
        <p:spPr>
          <a:xfrm>
            <a:off x="6812280" y="5349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Utilisateur lecture seule pour l'API, utilisateur d'écriture pour le flow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Flow final : client, chatbot et API</a:t>
            </a:r>
            <a:endParaRPr lang="en-US" sz="2800" dirty="0"/>
          </a:p>
        </p:txBody>
      </p:sp>
      <p:sp>
        <p:nvSpPr>
          <p:cNvPr id="3" name="Legende_97"/>
          <p:cNvSpPr/>
          <p:nvPr/>
        </p:nvSpPr>
        <p:spPr>
          <a:xfrm>
            <a:off x="5760720" y="91440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rgbClr val="00855F"/>
            </a:solidFill>
            <a:prstDash val="solid"/>
          </a:ln>
        </p:spPr>
      </p:sp>
      <p:sp>
        <p:nvSpPr>
          <p:cNvPr id="4" name="Libelle_98"/>
          <p:cNvSpPr txBox="1"/>
          <p:nvPr/>
        </p:nvSpPr>
        <p:spPr>
          <a:xfrm>
            <a:off x="6108192" y="886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Étape chatbot</a:t>
            </a:r>
            <a:endParaRPr lang="en-US" sz="900" dirty="0"/>
          </a:p>
        </p:txBody>
      </p:sp>
      <p:sp>
        <p:nvSpPr>
          <p:cNvPr id="5" name="Legende_99"/>
          <p:cNvSpPr/>
          <p:nvPr/>
        </p:nvSpPr>
        <p:spPr>
          <a:xfrm>
            <a:off x="7269480" y="91440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00855F"/>
            </a:solidFill>
            <a:prstDash val="solid"/>
          </a:ln>
        </p:spPr>
      </p:sp>
      <p:sp>
        <p:nvSpPr>
          <p:cNvPr id="6" name="Libelle_100"/>
          <p:cNvSpPr txBox="1"/>
          <p:nvPr/>
        </p:nvSpPr>
        <p:spPr>
          <a:xfrm>
            <a:off x="7616952" y="886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Appel API</a:t>
            </a:r>
            <a:endParaRPr lang="en-US" sz="900" dirty="0"/>
          </a:p>
        </p:txBody>
      </p:sp>
      <p:sp>
        <p:nvSpPr>
          <p:cNvPr id="7" name="Legende_101"/>
          <p:cNvSpPr/>
          <p:nvPr/>
        </p:nvSpPr>
        <p:spPr>
          <a:xfrm>
            <a:off x="8778240" y="91440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rgbClr val="00855F"/>
            </a:solidFill>
            <a:prstDash val="solid"/>
          </a:ln>
        </p:spPr>
      </p:sp>
      <p:sp>
        <p:nvSpPr>
          <p:cNvPr id="8" name="Libelle_102"/>
          <p:cNvSpPr txBox="1"/>
          <p:nvPr/>
        </p:nvSpPr>
        <p:spPr>
          <a:xfrm>
            <a:off x="9125712" y="886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Décision</a:t>
            </a:r>
            <a:endParaRPr lang="en-US" sz="900" dirty="0"/>
          </a:p>
        </p:txBody>
      </p:sp>
      <p:sp>
        <p:nvSpPr>
          <p:cNvPr id="9" name="Legende_103"/>
          <p:cNvSpPr/>
          <p:nvPr/>
        </p:nvSpPr>
        <p:spPr>
          <a:xfrm>
            <a:off x="10287000" y="91440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 w="12700">
            <a:solidFill>
              <a:srgbClr val="5F6B66"/>
            </a:solidFill>
            <a:prstDash val="solid"/>
          </a:ln>
        </p:spPr>
      </p:sp>
      <p:sp>
        <p:nvSpPr>
          <p:cNvPr id="10" name="Libelle_104"/>
          <p:cNvSpPr txBox="1"/>
          <p:nvPr/>
        </p:nvSpPr>
        <p:spPr>
          <a:xfrm>
            <a:off x="10634472" y="886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Échec / repli</a:t>
            </a:r>
            <a:endParaRPr lang="en-US" sz="900" dirty="0"/>
          </a:p>
        </p:txBody>
      </p:sp>
      <p:sp>
        <p:nvSpPr>
          <p:cNvPr id="11" name="Debut_105"/>
          <p:cNvSpPr/>
          <p:nvPr/>
        </p:nvSpPr>
        <p:spPr>
          <a:xfrm>
            <a:off x="365760" y="1508760"/>
            <a:ext cx="868680" cy="548640"/>
          </a:xfrm>
          <a:prstGeom prst="flowChartTerminator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Appel entrant</a:t>
            </a:r>
            <a:endParaRPr lang="en-US" sz="1000" dirty="0"/>
          </a:p>
        </p:txBody>
      </p:sp>
      <p:sp>
        <p:nvSpPr>
          <p:cNvPr id="12" name="Etape_106"/>
          <p:cNvSpPr/>
          <p:nvPr/>
        </p:nvSpPr>
        <p:spPr>
          <a:xfrm>
            <a:off x="1463040" y="141732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1. Pays : déduit du n° appelé, sinon demandé</a:t>
            </a:r>
            <a:endParaRPr lang="en-US" sz="1000" dirty="0"/>
          </a:p>
        </p:txBody>
      </p:sp>
      <p:sp>
        <p:nvSpPr>
          <p:cNvPr id="13" name="Etape_107"/>
          <p:cNvSpPr/>
          <p:nvPr/>
        </p:nvSpPr>
        <p:spPr>
          <a:xfrm>
            <a:off x="3291840" y="1417320"/>
            <a:ext cx="16916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2. Demander l'identifiant (retenir un n° de contrat déjà donné)</a:t>
            </a:r>
            <a:endParaRPr lang="en-US" sz="1000" dirty="0"/>
          </a:p>
        </p:txBody>
      </p:sp>
      <p:sp>
        <p:nvSpPr>
          <p:cNvPr id="14" name="Decision_108"/>
          <p:cNvSpPr/>
          <p:nvPr/>
        </p:nvSpPr>
        <p:spPr>
          <a:xfrm>
            <a:off x="5212080" y="1280160"/>
            <a:ext cx="146304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3. Format valide ?</a:t>
            </a:r>
            <a:endParaRPr lang="en-US" sz="1000" dirty="0"/>
          </a:p>
        </p:txBody>
      </p:sp>
      <p:sp>
        <p:nvSpPr>
          <p:cNvPr id="15" name="Appel_API_109"/>
          <p:cNvSpPr/>
          <p:nvPr/>
        </p:nvSpPr>
        <p:spPr>
          <a:xfrm>
            <a:off x="6903720" y="1417320"/>
            <a:ext cx="14173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4. API identify</a:t>
            </a:r>
            <a:endParaRPr lang="en-US" sz="1100" dirty="0"/>
          </a:p>
        </p:txBody>
      </p:sp>
      <p:sp>
        <p:nvSpPr>
          <p:cNvPr id="16" name="Decision_110"/>
          <p:cNvSpPr/>
          <p:nvPr/>
        </p:nvSpPr>
        <p:spPr>
          <a:xfrm>
            <a:off x="8549640" y="1280160"/>
            <a:ext cx="173736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5. Client trouvé, désignation unique ?</a:t>
            </a:r>
            <a:endParaRPr lang="en-US" sz="1000" dirty="0"/>
          </a:p>
        </p:txBody>
      </p:sp>
      <p:sp>
        <p:nvSpPr>
          <p:cNvPr id="17" name="Echec_111"/>
          <p:cNvSpPr/>
          <p:nvPr/>
        </p:nvSpPr>
        <p:spPr>
          <a:xfrm>
            <a:off x="10515600" y="12801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952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Non : relire et redemander (3 essais max) puis Fin A. Plusieurs désignations : Fin A</a:t>
            </a:r>
            <a:endParaRPr lang="en-US" sz="900" dirty="0"/>
          </a:p>
        </p:txBody>
      </p:sp>
      <p:sp>
        <p:nvSpPr>
          <p:cNvPr id="18" name="Fleche_112"/>
          <p:cNvSpPr/>
          <p:nvPr/>
        </p:nvSpPr>
        <p:spPr>
          <a:xfrm>
            <a:off x="123444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19" name="Fleche_113"/>
          <p:cNvSpPr/>
          <p:nvPr/>
        </p:nvSpPr>
        <p:spPr>
          <a:xfrm>
            <a:off x="306324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0" name="Fleche_114"/>
          <p:cNvSpPr/>
          <p:nvPr/>
        </p:nvSpPr>
        <p:spPr>
          <a:xfrm>
            <a:off x="498348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1" name="Fleche_115"/>
          <p:cNvSpPr/>
          <p:nvPr/>
        </p:nvSpPr>
        <p:spPr>
          <a:xfrm>
            <a:off x="667512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2" name="Libelle_116"/>
          <p:cNvSpPr txBox="1"/>
          <p:nvPr/>
        </p:nvSpPr>
        <p:spPr>
          <a:xfrm>
            <a:off x="6665976" y="1508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</a:t>
            </a:r>
            <a:endParaRPr lang="en-US" sz="900" dirty="0"/>
          </a:p>
        </p:txBody>
      </p:sp>
      <p:sp>
        <p:nvSpPr>
          <p:cNvPr id="23" name="Fleche_117"/>
          <p:cNvSpPr/>
          <p:nvPr/>
        </p:nvSpPr>
        <p:spPr>
          <a:xfrm>
            <a:off x="832104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4" name="Fleche_118"/>
          <p:cNvSpPr/>
          <p:nvPr/>
        </p:nvSpPr>
        <p:spPr>
          <a:xfrm>
            <a:off x="1028700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5" name="Libelle_119"/>
          <p:cNvSpPr txBox="1"/>
          <p:nvPr/>
        </p:nvSpPr>
        <p:spPr>
          <a:xfrm>
            <a:off x="10241280" y="1508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26" name="Fleche_120"/>
          <p:cNvSpPr/>
          <p:nvPr/>
        </p:nvSpPr>
        <p:spPr>
          <a:xfrm>
            <a:off x="5943600" y="2286000"/>
            <a:ext cx="0" cy="155448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7" name="Libelle_121"/>
          <p:cNvSpPr txBox="1"/>
          <p:nvPr/>
        </p:nvSpPr>
        <p:spPr>
          <a:xfrm>
            <a:off x="6016752" y="22677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28" name="Echec_122"/>
          <p:cNvSpPr/>
          <p:nvPr/>
        </p:nvSpPr>
        <p:spPr>
          <a:xfrm>
            <a:off x="5074920" y="2441448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952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Relire et redemander (3 essais max) puis Fin A</a:t>
            </a:r>
            <a:endParaRPr lang="en-US" sz="900" dirty="0"/>
          </a:p>
        </p:txBody>
      </p:sp>
      <p:sp>
        <p:nvSpPr>
          <p:cNvPr id="29" name="Fleche_123"/>
          <p:cNvSpPr/>
          <p:nvPr/>
        </p:nvSpPr>
        <p:spPr>
          <a:xfrm>
            <a:off x="9418320" y="2286000"/>
            <a:ext cx="0" cy="73152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30" name="Libelle_124"/>
          <p:cNvSpPr txBox="1"/>
          <p:nvPr/>
        </p:nvSpPr>
        <p:spPr>
          <a:xfrm>
            <a:off x="9491472" y="2560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</a:t>
            </a:r>
            <a:endParaRPr lang="en-US" sz="900" dirty="0"/>
          </a:p>
        </p:txBody>
      </p:sp>
      <p:sp>
        <p:nvSpPr>
          <p:cNvPr id="31" name="Decision_125"/>
          <p:cNvSpPr/>
          <p:nvPr/>
        </p:nvSpPr>
        <p:spPr>
          <a:xfrm>
            <a:off x="8549640" y="3017520"/>
            <a:ext cx="173736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6. Nom de société correct ?</a:t>
            </a:r>
            <a:endParaRPr lang="en-US" sz="1000" dirty="0"/>
          </a:p>
        </p:txBody>
      </p:sp>
      <p:sp>
        <p:nvSpPr>
          <p:cNvPr id="32" name="Echec_126"/>
          <p:cNvSpPr/>
          <p:nvPr/>
        </p:nvSpPr>
        <p:spPr>
          <a:xfrm>
            <a:off x="10515600" y="315468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952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Non : 3 essais max puis Fin A</a:t>
            </a:r>
            <a:endParaRPr lang="en-US" sz="900" dirty="0"/>
          </a:p>
        </p:txBody>
      </p:sp>
      <p:sp>
        <p:nvSpPr>
          <p:cNvPr id="33" name="Fleche_127"/>
          <p:cNvSpPr/>
          <p:nvPr/>
        </p:nvSpPr>
        <p:spPr>
          <a:xfrm>
            <a:off x="10287000" y="352044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34" name="Libelle_128"/>
          <p:cNvSpPr txBox="1"/>
          <p:nvPr/>
        </p:nvSpPr>
        <p:spPr>
          <a:xfrm>
            <a:off x="10241280" y="3246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35" name="Etape_129"/>
          <p:cNvSpPr/>
          <p:nvPr/>
        </p:nvSpPr>
        <p:spPr>
          <a:xfrm>
            <a:off x="6903720" y="3154680"/>
            <a:ext cx="14173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7. Demander le n° de contrat (si pas déjà donné)</a:t>
            </a:r>
            <a:endParaRPr lang="en-US" sz="1000" dirty="0"/>
          </a:p>
        </p:txBody>
      </p:sp>
      <p:sp>
        <p:nvSpPr>
          <p:cNvPr id="36" name="Fleche_130"/>
          <p:cNvSpPr/>
          <p:nvPr/>
        </p:nvSpPr>
        <p:spPr>
          <a:xfrm flipH="1">
            <a:off x="8321040" y="352044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37" name="Libelle_131"/>
          <p:cNvSpPr txBox="1"/>
          <p:nvPr/>
        </p:nvSpPr>
        <p:spPr>
          <a:xfrm>
            <a:off x="8339328" y="3246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</a:t>
            </a:r>
            <a:endParaRPr lang="en-US" sz="900" dirty="0"/>
          </a:p>
        </p:txBody>
      </p:sp>
      <p:sp>
        <p:nvSpPr>
          <p:cNvPr id="38" name="Appel_API_132"/>
          <p:cNvSpPr/>
          <p:nvPr/>
        </p:nvSpPr>
        <p:spPr>
          <a:xfrm>
            <a:off x="5166360" y="31546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8. API contract</a:t>
            </a:r>
            <a:endParaRPr lang="en-US" sz="1100" dirty="0"/>
          </a:p>
        </p:txBody>
      </p:sp>
      <p:sp>
        <p:nvSpPr>
          <p:cNvPr id="39" name="Fleche_133"/>
          <p:cNvSpPr/>
          <p:nvPr/>
        </p:nvSpPr>
        <p:spPr>
          <a:xfrm flipH="1">
            <a:off x="6629400" y="3520440"/>
            <a:ext cx="27432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0" name="Decision_134"/>
          <p:cNvSpPr/>
          <p:nvPr/>
        </p:nvSpPr>
        <p:spPr>
          <a:xfrm>
            <a:off x="3154680" y="3017520"/>
            <a:ext cx="173736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9. Contrat trouvé ?</a:t>
            </a:r>
            <a:endParaRPr lang="en-US" sz="1000" dirty="0"/>
          </a:p>
        </p:txBody>
      </p:sp>
      <p:sp>
        <p:nvSpPr>
          <p:cNvPr id="41" name="Fleche_135"/>
          <p:cNvSpPr/>
          <p:nvPr/>
        </p:nvSpPr>
        <p:spPr>
          <a:xfrm flipH="1">
            <a:off x="4892040" y="3520440"/>
            <a:ext cx="27432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2" name="Etape_136"/>
          <p:cNvSpPr/>
          <p:nvPr/>
        </p:nvSpPr>
        <p:spPr>
          <a:xfrm>
            <a:off x="365760" y="3154680"/>
            <a:ext cx="24688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10. Annoncer le statut, répondre aux questions depuis la ligne en mémoire</a:t>
            </a:r>
            <a:endParaRPr lang="en-US" sz="1000" dirty="0"/>
          </a:p>
        </p:txBody>
      </p:sp>
      <p:sp>
        <p:nvSpPr>
          <p:cNvPr id="43" name="Fleche_137"/>
          <p:cNvSpPr/>
          <p:nvPr/>
        </p:nvSpPr>
        <p:spPr>
          <a:xfrm flipH="1">
            <a:off x="2834640" y="3520440"/>
            <a:ext cx="32004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4" name="Libelle_138"/>
          <p:cNvSpPr txBox="1"/>
          <p:nvPr/>
        </p:nvSpPr>
        <p:spPr>
          <a:xfrm>
            <a:off x="2862072" y="3246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</a:t>
            </a:r>
            <a:endParaRPr lang="en-US" sz="900" dirty="0"/>
          </a:p>
        </p:txBody>
      </p:sp>
      <p:sp>
        <p:nvSpPr>
          <p:cNvPr id="45" name="Fleche_139"/>
          <p:cNvSpPr/>
          <p:nvPr/>
        </p:nvSpPr>
        <p:spPr>
          <a:xfrm>
            <a:off x="4023360" y="4023360"/>
            <a:ext cx="0" cy="155448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6" name="Libelle_140"/>
          <p:cNvSpPr txBox="1"/>
          <p:nvPr/>
        </p:nvSpPr>
        <p:spPr>
          <a:xfrm>
            <a:off x="4096512" y="40050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47" name="Echec_141"/>
          <p:cNvSpPr/>
          <p:nvPr/>
        </p:nvSpPr>
        <p:spPr>
          <a:xfrm>
            <a:off x="3017520" y="4178808"/>
            <a:ext cx="201168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952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« Je ne trouve pas ce contrat sur votre compte », relecture, 3 essais max, puis étape 11</a:t>
            </a:r>
            <a:endParaRPr lang="en-US" sz="900" dirty="0"/>
          </a:p>
        </p:txBody>
      </p:sp>
      <p:sp>
        <p:nvSpPr>
          <p:cNvPr id="48" name="Fleche_142"/>
          <p:cNvSpPr/>
          <p:nvPr/>
        </p:nvSpPr>
        <p:spPr>
          <a:xfrm>
            <a:off x="1600200" y="3886200"/>
            <a:ext cx="0" cy="77724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9" name="Decision_143"/>
          <p:cNvSpPr/>
          <p:nvPr/>
        </p:nvSpPr>
        <p:spPr>
          <a:xfrm>
            <a:off x="731520" y="4663440"/>
            <a:ext cx="173736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11. Autre contrat ?</a:t>
            </a:r>
            <a:endParaRPr lang="en-US" sz="1000" dirty="0"/>
          </a:p>
        </p:txBody>
      </p:sp>
      <p:sp>
        <p:nvSpPr>
          <p:cNvPr id="50" name="Fleche_144"/>
          <p:cNvSpPr/>
          <p:nvPr/>
        </p:nvSpPr>
        <p:spPr>
          <a:xfrm>
            <a:off x="2468880" y="5166360"/>
            <a:ext cx="512064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</a:ln>
        </p:spPr>
      </p:sp>
      <p:sp>
        <p:nvSpPr>
          <p:cNvPr id="51" name="Fleche_145"/>
          <p:cNvSpPr/>
          <p:nvPr/>
        </p:nvSpPr>
        <p:spPr>
          <a:xfrm flipV="1">
            <a:off x="7589520" y="3886200"/>
            <a:ext cx="0" cy="128016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52" name="Libelle_146"/>
          <p:cNvSpPr txBox="1"/>
          <p:nvPr/>
        </p:nvSpPr>
        <p:spPr>
          <a:xfrm>
            <a:off x="5257800" y="4892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 : sans refaire l'identification</a:t>
            </a:r>
            <a:endParaRPr lang="en-US" sz="900" dirty="0"/>
          </a:p>
        </p:txBody>
      </p:sp>
      <p:sp>
        <p:nvSpPr>
          <p:cNvPr id="53" name="Fleche_147"/>
          <p:cNvSpPr/>
          <p:nvPr/>
        </p:nvSpPr>
        <p:spPr>
          <a:xfrm>
            <a:off x="1600200" y="5669280"/>
            <a:ext cx="0" cy="18288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54" name="Libelle_148"/>
          <p:cNvSpPr txBox="1"/>
          <p:nvPr/>
        </p:nvSpPr>
        <p:spPr>
          <a:xfrm>
            <a:off x="1691640" y="56418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55" name="Fin_149"/>
          <p:cNvSpPr/>
          <p:nvPr/>
        </p:nvSpPr>
        <p:spPr>
          <a:xfrm>
            <a:off x="1051560" y="5852160"/>
            <a:ext cx="1097280" cy="411480"/>
          </a:xfrm>
          <a:prstGeom prst="flowChartTerminator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12. Clôture</a:t>
            </a:r>
            <a:endParaRPr lang="en-US" sz="1000" dirty="0"/>
          </a:p>
        </p:txBody>
      </p:sp>
      <p:sp>
        <p:nvSpPr>
          <p:cNvPr id="56" name="Messages_fin_150"/>
          <p:cNvSpPr/>
          <p:nvPr/>
        </p:nvSpPr>
        <p:spPr>
          <a:xfrm>
            <a:off x="8138160" y="4343400"/>
            <a:ext cx="370332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7" name="Texte_151"/>
          <p:cNvSpPr txBox="1"/>
          <p:nvPr/>
        </p:nvSpPr>
        <p:spPr>
          <a:xfrm>
            <a:off x="8275320" y="4434840"/>
            <a:ext cx="3429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Messages de fin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Fin A 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« Je ne parviens pas à vous identifier » + canal à définir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Fin B 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« Service momentanément indisponible, merci de rappeler plus tard 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À toute étape 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erreur ou lenteur de l'API → 1 nouvel essai automatique, puis Fin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Règles d'expérience utilisateur</a:t>
            </a:r>
            <a:endParaRPr lang="en-US" sz="2800" dirty="0"/>
          </a:p>
        </p:txBody>
      </p:sp>
      <p:sp>
        <p:nvSpPr>
          <p:cNvPr id="3" name="Regle_152"/>
          <p:cNvSpPr/>
          <p:nvPr/>
        </p:nvSpPr>
        <p:spPr>
          <a:xfrm>
            <a:off x="457200" y="118872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ero_153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Libelle_154"/>
          <p:cNvSpPr txBox="1"/>
          <p:nvPr/>
        </p:nvSpPr>
        <p:spPr>
          <a:xfrm>
            <a:off x="1371600" y="1298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Moins d'échanges</a:t>
            </a:r>
            <a:endParaRPr lang="en-US" sz="1400" dirty="0"/>
          </a:p>
        </p:txBody>
      </p:sp>
      <p:sp>
        <p:nvSpPr>
          <p:cNvPr id="6" name="Libelle_155"/>
          <p:cNvSpPr txBox="1"/>
          <p:nvPr/>
        </p:nvSpPr>
        <p:spPr>
          <a:xfrm>
            <a:off x="1371600" y="1627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Pays déduit du numéro appelé ; informations données en avance retenues</a:t>
            </a:r>
            <a:endParaRPr lang="en-US" sz="1200" dirty="0"/>
          </a:p>
        </p:txBody>
      </p:sp>
      <p:sp>
        <p:nvSpPr>
          <p:cNvPr id="7" name="Regle_156"/>
          <p:cNvSpPr/>
          <p:nvPr/>
        </p:nvSpPr>
        <p:spPr>
          <a:xfrm>
            <a:off x="6126480" y="118872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ero_157"/>
          <p:cNvSpPr/>
          <p:nvPr/>
        </p:nvSpPr>
        <p:spPr>
          <a:xfrm>
            <a:off x="6309360" y="146304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Libelle_158"/>
          <p:cNvSpPr txBox="1"/>
          <p:nvPr/>
        </p:nvSpPr>
        <p:spPr>
          <a:xfrm>
            <a:off x="7040880" y="1298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Erreurs détectées tôt</a:t>
            </a:r>
            <a:endParaRPr lang="en-US" sz="1400" dirty="0"/>
          </a:p>
        </p:txBody>
      </p:sp>
      <p:sp>
        <p:nvSpPr>
          <p:cNvPr id="10" name="Libelle_159"/>
          <p:cNvSpPr txBox="1"/>
          <p:nvPr/>
        </p:nvSpPr>
        <p:spPr>
          <a:xfrm>
            <a:off x="7040880" y="1627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Format de l'identifiant vérifié avant l'appel à l'API</a:t>
            </a:r>
            <a:endParaRPr lang="en-US" sz="1200" dirty="0"/>
          </a:p>
        </p:txBody>
      </p:sp>
      <p:sp>
        <p:nvSpPr>
          <p:cNvPr id="11" name="Regle_160"/>
          <p:cNvSpPr/>
          <p:nvPr/>
        </p:nvSpPr>
        <p:spPr>
          <a:xfrm>
            <a:off x="457200" y="246888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ero_161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Libelle_162"/>
          <p:cNvSpPr txBox="1"/>
          <p:nvPr/>
        </p:nvSpPr>
        <p:spPr>
          <a:xfrm>
            <a:off x="137160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Tolérance à l'oral</a:t>
            </a:r>
            <a:endParaRPr lang="en-US" sz="1400" dirty="0"/>
          </a:p>
        </p:txBody>
      </p:sp>
      <p:sp>
        <p:nvSpPr>
          <p:cNvPr id="14" name="Libelle_163"/>
          <p:cNvSpPr txBox="1"/>
          <p:nvPr/>
        </p:nvSpPr>
        <p:spPr>
          <a:xfrm>
            <a:off x="1371600" y="29077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Comparaison souple du nom : majuscules, accents et formes juridiques ignorés</a:t>
            </a:r>
            <a:endParaRPr lang="en-US" sz="1200" dirty="0"/>
          </a:p>
        </p:txBody>
      </p:sp>
      <p:sp>
        <p:nvSpPr>
          <p:cNvPr id="15" name="Regle_164"/>
          <p:cNvSpPr/>
          <p:nvPr/>
        </p:nvSpPr>
        <p:spPr>
          <a:xfrm>
            <a:off x="6126480" y="246888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ero_165"/>
          <p:cNvSpPr/>
          <p:nvPr/>
        </p:nvSpPr>
        <p:spPr>
          <a:xfrm>
            <a:off x="6309360" y="2743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Libelle_166"/>
          <p:cNvSpPr txBox="1"/>
          <p:nvPr/>
        </p:nvSpPr>
        <p:spPr>
          <a:xfrm>
            <a:off x="704088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Relecture ciblée</a:t>
            </a:r>
            <a:endParaRPr lang="en-US" sz="1400" dirty="0"/>
          </a:p>
        </p:txBody>
      </p:sp>
      <p:sp>
        <p:nvSpPr>
          <p:cNvPr id="18" name="Libelle_167"/>
          <p:cNvSpPr txBox="1"/>
          <p:nvPr/>
        </p:nvSpPr>
        <p:spPr>
          <a:xfrm>
            <a:off x="7040880" y="29077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Les numéros ne sont relus au client qu'en cas d'échec</a:t>
            </a:r>
            <a:endParaRPr lang="en-US" sz="1200" dirty="0"/>
          </a:p>
        </p:txBody>
      </p:sp>
      <p:sp>
        <p:nvSpPr>
          <p:cNvPr id="19" name="Regle_168"/>
          <p:cNvSpPr/>
          <p:nvPr/>
        </p:nvSpPr>
        <p:spPr>
          <a:xfrm>
            <a:off x="457200" y="374904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ero_169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Libelle_170"/>
          <p:cNvSpPr txBox="1"/>
          <p:nvPr/>
        </p:nvSpPr>
        <p:spPr>
          <a:xfrm>
            <a:off x="1371600" y="3858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Réponses instantanées</a:t>
            </a:r>
            <a:endParaRPr lang="en-US" sz="1400" dirty="0"/>
          </a:p>
        </p:txBody>
      </p:sp>
      <p:sp>
        <p:nvSpPr>
          <p:cNvPr id="22" name="Libelle_171"/>
          <p:cNvSpPr txBox="1"/>
          <p:nvPr/>
        </p:nvSpPr>
        <p:spPr>
          <a:xfrm>
            <a:off x="1371600" y="41879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 seul appel par contrat ; les questions sont traitées depuis la ligne en mémoire</a:t>
            </a:r>
            <a:endParaRPr lang="en-US" sz="1200" dirty="0"/>
          </a:p>
        </p:txBody>
      </p:sp>
      <p:sp>
        <p:nvSpPr>
          <p:cNvPr id="23" name="Regle_172"/>
          <p:cNvSpPr/>
          <p:nvPr/>
        </p:nvSpPr>
        <p:spPr>
          <a:xfrm>
            <a:off x="6126480" y="374904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ero_173"/>
          <p:cNvSpPr/>
          <p:nvPr/>
        </p:nvSpPr>
        <p:spPr>
          <a:xfrm>
            <a:off x="6309360" y="40233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Libelle_174"/>
          <p:cNvSpPr txBox="1"/>
          <p:nvPr/>
        </p:nvSpPr>
        <p:spPr>
          <a:xfrm>
            <a:off x="7040880" y="3858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 de confusion</a:t>
            </a:r>
            <a:endParaRPr lang="en-US" sz="1400" dirty="0"/>
          </a:p>
        </p:txBody>
      </p:sp>
      <p:sp>
        <p:nvSpPr>
          <p:cNvPr id="26" name="Libelle_175"/>
          <p:cNvSpPr txBox="1"/>
          <p:nvPr/>
        </p:nvSpPr>
        <p:spPr>
          <a:xfrm>
            <a:off x="7040880" y="41879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 statut du contrat (en cours ou terminé) est annoncé dès qu'il est trouvé</a:t>
            </a:r>
            <a:endParaRPr lang="en-US" sz="1200" dirty="0"/>
          </a:p>
        </p:txBody>
      </p:sp>
      <p:sp>
        <p:nvSpPr>
          <p:cNvPr id="27" name="Regle_176"/>
          <p:cNvSpPr/>
          <p:nvPr/>
        </p:nvSpPr>
        <p:spPr>
          <a:xfrm>
            <a:off x="457200" y="502920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Numero_177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9" name="Libelle_178"/>
          <p:cNvSpPr txBox="1"/>
          <p:nvPr/>
        </p:nvSpPr>
        <p:spPr>
          <a:xfrm>
            <a:off x="1371600" y="5138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Sécurité</a:t>
            </a:r>
            <a:endParaRPr lang="en-US" sz="1400" dirty="0"/>
          </a:p>
        </p:txBody>
      </p:sp>
      <p:sp>
        <p:nvSpPr>
          <p:cNvPr id="30" name="Libelle_179"/>
          <p:cNvSpPr txBox="1"/>
          <p:nvPr/>
        </p:nvSpPr>
        <p:spPr>
          <a:xfrm>
            <a:off x="1371600" y="54681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essais maximum par étape ; désignation jamais lue au client ; même message si contrat absent</a:t>
            </a:r>
            <a:endParaRPr lang="en-US" sz="1200" dirty="0"/>
          </a:p>
        </p:txBody>
      </p:sp>
      <p:sp>
        <p:nvSpPr>
          <p:cNvPr id="31" name="Regle_180"/>
          <p:cNvSpPr/>
          <p:nvPr/>
        </p:nvSpPr>
        <p:spPr>
          <a:xfrm>
            <a:off x="6126480" y="502920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Numero_181"/>
          <p:cNvSpPr/>
          <p:nvPr/>
        </p:nvSpPr>
        <p:spPr>
          <a:xfrm>
            <a:off x="6309360" y="530352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3" name="Libelle_182"/>
          <p:cNvSpPr txBox="1"/>
          <p:nvPr/>
        </p:nvSpPr>
        <p:spPr>
          <a:xfrm>
            <a:off x="7040880" y="5138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 de silence</a:t>
            </a:r>
            <a:endParaRPr lang="en-US" sz="1400" dirty="0"/>
          </a:p>
        </p:txBody>
      </p:sp>
      <p:sp>
        <p:nvSpPr>
          <p:cNvPr id="34" name="Libelle_183"/>
          <p:cNvSpPr txBox="1"/>
          <p:nvPr/>
        </p:nvSpPr>
        <p:spPr>
          <a:xfrm>
            <a:off x="7040880" y="54681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 cas d'erreur API : 1 nouvel essai, puis message clair (Fin B)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Règles de sécurité : uniquement Apigee</a:t>
            </a:r>
            <a:endParaRPr lang="en-US" sz="2800" dirty="0"/>
          </a:p>
        </p:txBody>
      </p:sp>
      <p:sp>
        <p:nvSpPr>
          <p:cNvPr id="3" name="Libelle_184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Ces règles visent la passerelle, l'émetteur des jetons ou les réponses envoyées au client.</a:t>
            </a:r>
            <a:endParaRPr lang="en-US" sz="1300" dirty="0"/>
          </a:p>
        </p:txBody>
      </p:sp>
      <p:graphicFrame>
        <p:nvGraphicFramePr>
          <p:cNvPr id="11" name="Tableau_1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680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Règle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À faire sur Apigee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R.SEC.3 – Hygiène des en-têtes HTTP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Retirer des réponses les en-têtes inutiles (Server, Via, X-Forwarded-For, X-Powered-By)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R.SEC.4 – En-têtes de sécurité et CORS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Ajouter X-Content-Type-Options et une CSP (sans X-Frame-Options). CORS restreint aux origines autorisées.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R.SEC.7 – Serveur d'autorisation unique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 seul serveur d'autorisation, communiqué à l'équipe Dataiku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R.SEC.8 – Jetons OAuth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Jetons OAuth2 au format JWT signé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R.SEC.9 – Autorisation grossière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Vérifier uniquement le jeton (signature, expiration, droits), sans règle métier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R.SEC.10 – Flux OAuth 2 supportés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Client Credentials et Authorization Code ; Client Credentials pour le chatbot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R.SEC.11 – Autres flux OAuth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Désactiver tous les autres flux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R.SEC.12 – Authentification du propriétaire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Authorization Code, l'utilisateur s'authentifie par SAML 2 ou OIDC (non utilisé par le chatbot)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R.SEC.14 – Durée de vie des jetons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 minutes maximum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Règles de sécurité : Dataiku et Apigee</a:t>
            </a:r>
            <a:endParaRPr lang="en-US" sz="2800" dirty="0"/>
          </a:p>
        </p:txBody>
      </p:sp>
      <p:sp>
        <p:nvSpPr>
          <p:cNvPr id="3" name="Libelle_186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Aucune règle ne concerne uniquement Dataiku : ces règles s'appliquent aux deux liaisons (chatbot → Apigee, Apigee → API Node).</a:t>
            </a:r>
            <a:endParaRPr lang="en-US" sz="1300" dirty="0"/>
          </a:p>
        </p:txBody>
      </p:sp>
      <p:graphicFrame>
        <p:nvGraphicFramePr>
          <p:cNvPr id="12" name="Tableau_1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Règle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À faire sur Apigee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À faire sur Dataiku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R.URL – HTTPS uniquement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API exposée en HTTPS uniquement ; appel de Dataiku en HTTPS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API Node en HTTPS ; accessible uniquement depuis Apigee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R.SEC.1 – TLS ≥ 1.2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TLS ≥ 1.2 en entrée et vers Dataiku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TLS ≥ 1.2 sur l'API Node, vérifié par un scan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R.SEC.2 – Chiffrements du Groupe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Chiffrements ITRMG uniquement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Chiffrements ITRMG uniquement, vérifiés par un scan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R.SEC.5 – Authentification machine-à-machine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Chatbot authentifié en mTLS + OAuth2 ; jeton transmis à Dataiku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Jeton revérifié par l'API Node ; aucune clé API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08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R.SEC.13 – Moindre privilège et RGPD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Chatbot limité à cette seule API ; POST uniquement (pas de données personnelles dans les URL) ; contrôle du format des entrées ; nombre d'appels limité, avec alerte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Données filtrées par client et par contrat ; seules les colonnes utiles renvoyées ; requêtes paramétrées (protection contre l'injection SQL) ; base en lecture seule sur la seule table utile ; journal d'audit des accès sans données personnelles en clair ; secrets protégés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Pentest en recette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Participer et corriger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Participer et corriger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Sensibilité des données : classification</a:t>
            </a:r>
            <a:endParaRPr lang="en-US" sz="2800" dirty="0"/>
          </a:p>
        </p:txBody>
      </p:sp>
      <p:sp>
        <p:nvSpPr>
          <p:cNvPr id="3" name="Libelle_188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67 % des 39 champs décrits sont critiques ou élevés : seuls les champs utiles au chatbot doivent atteindre l'API.</a:t>
            </a:r>
            <a:endParaRPr lang="en-US" sz="1300" dirty="0"/>
          </a:p>
        </p:txBody>
      </p:sp>
      <p:sp>
        <p:nvSpPr>
          <p:cNvPr id="4" name="Carte_189"/>
          <p:cNvSpPr/>
          <p:nvPr/>
        </p:nvSpPr>
        <p:spPr>
          <a:xfrm>
            <a:off x="457200" y="146304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belle_190"/>
          <p:cNvSpPr txBox="1"/>
          <p:nvPr/>
        </p:nvSpPr>
        <p:spPr>
          <a:xfrm>
            <a:off x="64008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CRITIQUE</a:t>
            </a:r>
            <a:endParaRPr lang="en-US" sz="1300" dirty="0"/>
          </a:p>
        </p:txBody>
      </p:sp>
      <p:sp>
        <p:nvSpPr>
          <p:cNvPr id="6" name="Libelle_191"/>
          <p:cNvSpPr txBox="1"/>
          <p:nvPr/>
        </p:nvSpPr>
        <p:spPr>
          <a:xfrm>
            <a:off x="640080" y="1828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31 %</a:t>
            </a:r>
            <a:endParaRPr lang="en-US" sz="3200" dirty="0"/>
          </a:p>
        </p:txBody>
      </p:sp>
      <p:sp>
        <p:nvSpPr>
          <p:cNvPr id="7" name="Libelle_192"/>
          <p:cNvSpPr txBox="1"/>
          <p:nvPr/>
        </p:nvSpPr>
        <p:spPr>
          <a:xfrm>
            <a:off x="1874520" y="20116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 champs</a:t>
            </a:r>
            <a:endParaRPr lang="en-US" sz="1200" dirty="0"/>
          </a:p>
        </p:txBody>
      </p:sp>
      <p:sp>
        <p:nvSpPr>
          <p:cNvPr id="8" name="Carte_193"/>
          <p:cNvSpPr/>
          <p:nvPr/>
        </p:nvSpPr>
        <p:spPr>
          <a:xfrm>
            <a:off x="3291840" y="146304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belle_194"/>
          <p:cNvSpPr txBox="1"/>
          <p:nvPr/>
        </p:nvSpPr>
        <p:spPr>
          <a:xfrm>
            <a:off x="347472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ÉLEVÉ</a:t>
            </a:r>
            <a:endParaRPr lang="en-US" sz="1300" dirty="0"/>
          </a:p>
        </p:txBody>
      </p:sp>
      <p:sp>
        <p:nvSpPr>
          <p:cNvPr id="10" name="Libelle_195"/>
          <p:cNvSpPr txBox="1"/>
          <p:nvPr/>
        </p:nvSpPr>
        <p:spPr>
          <a:xfrm>
            <a:off x="3474720" y="1828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36 %</a:t>
            </a:r>
            <a:endParaRPr lang="en-US" sz="3200" dirty="0"/>
          </a:p>
        </p:txBody>
      </p:sp>
      <p:sp>
        <p:nvSpPr>
          <p:cNvPr id="11" name="Libelle_196"/>
          <p:cNvSpPr txBox="1"/>
          <p:nvPr/>
        </p:nvSpPr>
        <p:spPr>
          <a:xfrm>
            <a:off x="4709160" y="20116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14 champs</a:t>
            </a:r>
            <a:endParaRPr lang="en-US" sz="1200" dirty="0"/>
          </a:p>
        </p:txBody>
      </p:sp>
      <p:sp>
        <p:nvSpPr>
          <p:cNvPr id="12" name="Carte_197"/>
          <p:cNvSpPr/>
          <p:nvPr/>
        </p:nvSpPr>
        <p:spPr>
          <a:xfrm>
            <a:off x="6126480" y="146304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ibelle_198"/>
          <p:cNvSpPr txBox="1"/>
          <p:nvPr/>
        </p:nvSpPr>
        <p:spPr>
          <a:xfrm>
            <a:off x="630936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MOYEN</a:t>
            </a:r>
            <a:endParaRPr lang="en-US" sz="1300" dirty="0"/>
          </a:p>
        </p:txBody>
      </p:sp>
      <p:sp>
        <p:nvSpPr>
          <p:cNvPr id="14" name="Libelle_199"/>
          <p:cNvSpPr txBox="1"/>
          <p:nvPr/>
        </p:nvSpPr>
        <p:spPr>
          <a:xfrm>
            <a:off x="6309360" y="1828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23 %</a:t>
            </a:r>
            <a:endParaRPr lang="en-US" sz="3200" dirty="0"/>
          </a:p>
        </p:txBody>
      </p:sp>
      <p:sp>
        <p:nvSpPr>
          <p:cNvPr id="15" name="Libelle_200"/>
          <p:cNvSpPr txBox="1"/>
          <p:nvPr/>
        </p:nvSpPr>
        <p:spPr>
          <a:xfrm>
            <a:off x="7543800" y="20116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 champs</a:t>
            </a:r>
            <a:endParaRPr lang="en-US" sz="1200" dirty="0"/>
          </a:p>
        </p:txBody>
      </p:sp>
      <p:sp>
        <p:nvSpPr>
          <p:cNvPr id="16" name="Carte_201"/>
          <p:cNvSpPr/>
          <p:nvPr/>
        </p:nvSpPr>
        <p:spPr>
          <a:xfrm>
            <a:off x="8961120" y="146304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ibelle_202"/>
          <p:cNvSpPr txBox="1"/>
          <p:nvPr/>
        </p:nvSpPr>
        <p:spPr>
          <a:xfrm>
            <a:off x="914400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FAIBLE</a:t>
            </a:r>
            <a:endParaRPr lang="en-US" sz="1300" dirty="0"/>
          </a:p>
        </p:txBody>
      </p:sp>
      <p:sp>
        <p:nvSpPr>
          <p:cNvPr id="18" name="Libelle_203"/>
          <p:cNvSpPr txBox="1"/>
          <p:nvPr/>
        </p:nvSpPr>
        <p:spPr>
          <a:xfrm>
            <a:off x="9144000" y="1828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10 %</a:t>
            </a:r>
            <a:endParaRPr lang="en-US" sz="3200" dirty="0"/>
          </a:p>
        </p:txBody>
      </p:sp>
      <p:sp>
        <p:nvSpPr>
          <p:cNvPr id="19" name="Libelle_204"/>
          <p:cNvSpPr txBox="1"/>
          <p:nvPr/>
        </p:nvSpPr>
        <p:spPr>
          <a:xfrm>
            <a:off x="10378440" y="20116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champs</a:t>
            </a:r>
            <a:endParaRPr lang="en-US" sz="1200" dirty="0"/>
          </a:p>
        </p:txBody>
      </p:sp>
      <p:graphicFrame>
        <p:nvGraphicFramePr>
          <p:cNvPr id="13" name="Tableau_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Niveau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Critère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Champs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CRITIQUE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Identifie, contacte ou localise une personne ; prise de contrôle de compte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Nom du client, adresse de facturation (6 colonnes), code postal, emails, téléphones, identifiant client, email + identifiant combinés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ÉLEVÉ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Finances, situation financière, santé déduite, fraude, secret d'accès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Montant règlement divers, prime, surprime, dates de première, dernière et prochaine échéance, montant TTC de la prochaine échéance, valeur résiduelle, fournisseur, immatriculation, statuts majeur et mineur, assurance à la personne, ID contrat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MOYEN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Caractéristique du contrat, identifiant interne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Codes TVA, type de contrat, libellé matériel, durée, périodicité, assurance matériel, prestation OPM, numéro de lot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FAIBLE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Référentiel public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Codes et libellés de la marque et de l'enseigne de l'apporteur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1" name="Libelle_206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Analyse revue : 7 incohérences du document d'origine corrigées ; champs n° 13 et 14 absents du document (exclus des pourcentages).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Risques par type de données</a:t>
            </a:r>
            <a:endParaRPr lang="en-US" sz="2800" dirty="0"/>
          </a:p>
        </p:txBody>
      </p:sp>
      <p:sp>
        <p:nvSpPr>
          <p:cNvPr id="3" name="Libelle_207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risque juridique le plus élevé vient des données de santé déduites ; le plus probable, de la fraude aux faux avis d'échéance.</a:t>
            </a:r>
            <a:endParaRPr lang="en-US" sz="1300" dirty="0"/>
          </a:p>
        </p:txBody>
      </p:sp>
      <p:graphicFrame>
        <p:nvGraphicFramePr>
          <p:cNvPr id="14" name="Tableau_2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53035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Champs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Risques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Identité et contact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Nom, emails, téléphones, adresse, code postal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Usurpation, hameçonnage ciblé, démarchage ; notification CNIL sous 72 h en cas de fuite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Identifiants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Identifiant client, email + identifiant, ID contrat, numéro de lot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Recoupement entre systèmes, prise de contrôle de compte, énumération ; l'ID contrat donne accès au contrat via le chatbot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Montants et échéances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Montants, dates d'échéance, valeur résiduelle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Faux avis d'échéance très crédibles (nom + montant exact + date) ; déduction de la solvabilité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Situation financière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Statuts majeur et mineur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Révèle impayés et contentieux : atteinte à la réputation, discrimination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Santé déduite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Assurance à la personne + prime + surprime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Donnée sensible au sens de l'art. 9 RGPD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Bien financé et fournisseur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Immatriculation, fournisseur, matériel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Fraude à la commande, vol ciblé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Référentiel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Marques, enseignes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Négligeable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Points d'architecture à revoir</a:t>
            </a:r>
            <a:endParaRPr lang="en-US" sz="2800" dirty="0"/>
          </a:p>
        </p:txBody>
      </p:sp>
      <p:sp>
        <p:nvSpPr>
          <p:cNvPr id="3" name="Libelle_209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Sept chantiers, par priorité ; les chantiers 1 et 2 réduisent le plus le risque.</a:t>
            </a:r>
            <a:endParaRPr lang="en-US" sz="1300" dirty="0"/>
          </a:p>
        </p:txBody>
      </p:sp>
      <p:graphicFrame>
        <p:nvGraphicFramePr>
          <p:cNvPr id="15" name="Tableau_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103120"/>
                <a:gridCol w="2926080"/>
                <a:gridCol w="484632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Chantier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Ce qui change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Jours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Minimisation dans le flow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31 % des champs sont critiques et inutiles au chatbot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Seules les colonnes utiles et la clé de recherche vont dans PostgreSQL ; statut simplifié (en cours / terminé) ; contrats en cours ou dernière échéance de moins de N ans ; clients aux désignations incohérentes exclus et signalés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Vérification d'identité dans l'API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SIREN, code UK et nom de société sont publics ; renvoyer le nom confirme que la société est cliente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identify reçoit l'identifiant, le nom normalisé et un second facteur non public, et répond seulement « correspond / ne correspond pas »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+1,5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Données de santé déduites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Art. 9 RGPD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Prime, surprime et assurance à la personne non exposées, sauf validation du DPO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Journal d'audit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Détecter et prouver un abus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Accès tracés (qui, quand, quel contrat), sans données personnelles en clair, accès restreint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Documentation de l'API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Classification exigée pour chaque champ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Chaque champ renvoyé est documenté avec son niveau de sensibilité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+0,5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Limitation des appels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Énumération possible avec un jeton volé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Quota par application dans Apigee, avec alerte en cas de volume anormal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Apigee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Prérequis de conformité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Grand volume, risque sur la santé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AIPD (art. 35), procédure de notification CNIL sous 72 h, chiffrement au repos du COS et de PostgreSQL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DPO / RSSI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Questions à trancher : données et sécurité</a:t>
            </a:r>
            <a:endParaRPr lang="en-US" sz="2800" dirty="0"/>
          </a:p>
        </p:txBody>
      </p:sp>
      <p:sp>
        <p:nvSpPr>
          <p:cNvPr id="3" name="Question_211"/>
          <p:cNvSpPr/>
          <p:nvPr/>
        </p:nvSpPr>
        <p:spPr>
          <a:xfrm>
            <a:off x="45720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Numero_21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Libelle_213"/>
          <p:cNvSpPr txBox="1"/>
          <p:nvPr/>
        </p:nvSpPr>
        <p:spPr>
          <a:xfrm>
            <a:off x="128016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Champs clés</a:t>
            </a:r>
            <a:endParaRPr lang="en-US" sz="1400" dirty="0"/>
          </a:p>
        </p:txBody>
      </p:sp>
      <p:sp>
        <p:nvSpPr>
          <p:cNvPr id="6" name="Libelle_214"/>
          <p:cNvSpPr txBox="1"/>
          <p:nvPr/>
        </p:nvSpPr>
        <p:spPr>
          <a:xfrm>
            <a:off x="640080" y="20574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 champ contient le SIREN ou le code UK ? Que sont les champs n° 13 et 14 ?</a:t>
            </a:r>
            <a:endParaRPr lang="en-US" sz="1300" dirty="0"/>
          </a:p>
        </p:txBody>
      </p:sp>
      <p:sp>
        <p:nvSpPr>
          <p:cNvPr id="7" name="Question_215"/>
          <p:cNvSpPr/>
          <p:nvPr/>
        </p:nvSpPr>
        <p:spPr>
          <a:xfrm>
            <a:off x="329184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Numero_216"/>
          <p:cNvSpPr/>
          <p:nvPr/>
        </p:nvSpPr>
        <p:spPr>
          <a:xfrm>
            <a:off x="3474720" y="13716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Libelle_217"/>
          <p:cNvSpPr txBox="1"/>
          <p:nvPr/>
        </p:nvSpPr>
        <p:spPr>
          <a:xfrm>
            <a:off x="411480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Second facteur</a:t>
            </a:r>
            <a:endParaRPr lang="en-US" sz="1400" dirty="0"/>
          </a:p>
        </p:txBody>
      </p:sp>
      <p:sp>
        <p:nvSpPr>
          <p:cNvPr id="10" name="Libelle_218"/>
          <p:cNvSpPr txBox="1"/>
          <p:nvPr/>
        </p:nvSpPr>
        <p:spPr>
          <a:xfrm>
            <a:off x="3474720" y="20574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 élément non public le client peut-il donner au téléphone ?</a:t>
            </a:r>
            <a:endParaRPr lang="en-US" sz="1300" dirty="0"/>
          </a:p>
        </p:txBody>
      </p:sp>
      <p:sp>
        <p:nvSpPr>
          <p:cNvPr id="11" name="Question_219"/>
          <p:cNvSpPr/>
          <p:nvPr/>
        </p:nvSpPr>
        <p:spPr>
          <a:xfrm>
            <a:off x="612648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Numero_220"/>
          <p:cNvSpPr/>
          <p:nvPr/>
        </p:nvSpPr>
        <p:spPr>
          <a:xfrm>
            <a:off x="6309360" y="13716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Libelle_221"/>
          <p:cNvSpPr txBox="1"/>
          <p:nvPr/>
        </p:nvSpPr>
        <p:spPr>
          <a:xfrm>
            <a:off x="694944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Statut simplifié</a:t>
            </a:r>
            <a:endParaRPr lang="en-US" sz="1400" dirty="0"/>
          </a:p>
        </p:txBody>
      </p:sp>
      <p:sp>
        <p:nvSpPr>
          <p:cNvPr id="14" name="Libelle_222"/>
          <p:cNvSpPr txBox="1"/>
          <p:nvPr/>
        </p:nvSpPr>
        <p:spPr>
          <a:xfrm>
            <a:off x="6309360" y="20574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Quelle correspondance entre codes de statut et « en cours » / « terminé » ?</a:t>
            </a:r>
            <a:endParaRPr lang="en-US" sz="1300" dirty="0"/>
          </a:p>
        </p:txBody>
      </p:sp>
      <p:sp>
        <p:nvSpPr>
          <p:cNvPr id="15" name="Question_223"/>
          <p:cNvSpPr/>
          <p:nvPr/>
        </p:nvSpPr>
        <p:spPr>
          <a:xfrm>
            <a:off x="896112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Numero_224"/>
          <p:cNvSpPr/>
          <p:nvPr/>
        </p:nvSpPr>
        <p:spPr>
          <a:xfrm>
            <a:off x="9144000" y="13716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Libelle_225"/>
          <p:cNvSpPr txBox="1"/>
          <p:nvPr/>
        </p:nvSpPr>
        <p:spPr>
          <a:xfrm>
            <a:off x="978408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Conservation</a:t>
            </a:r>
            <a:endParaRPr lang="en-US" sz="1400" dirty="0"/>
          </a:p>
        </p:txBody>
      </p:sp>
      <p:sp>
        <p:nvSpPr>
          <p:cNvPr id="18" name="Libelle_226"/>
          <p:cNvSpPr txBox="1"/>
          <p:nvPr/>
        </p:nvSpPr>
        <p:spPr>
          <a:xfrm>
            <a:off x="9144000" y="20574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Combien d'années (N) pour les contrats terminés exposés ?</a:t>
            </a:r>
            <a:endParaRPr lang="en-US" sz="1300" dirty="0"/>
          </a:p>
        </p:txBody>
      </p:sp>
      <p:sp>
        <p:nvSpPr>
          <p:cNvPr id="19" name="Question_227"/>
          <p:cNvSpPr/>
          <p:nvPr/>
        </p:nvSpPr>
        <p:spPr>
          <a:xfrm>
            <a:off x="457200" y="37033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Numero_228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Libelle_229"/>
          <p:cNvSpPr txBox="1"/>
          <p:nvPr/>
        </p:nvSpPr>
        <p:spPr>
          <a:xfrm>
            <a:off x="128016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Données de santé</a:t>
            </a:r>
            <a:endParaRPr lang="en-US" sz="1400" dirty="0"/>
          </a:p>
        </p:txBody>
      </p:sp>
      <p:sp>
        <p:nvSpPr>
          <p:cNvPr id="22" name="Libelle_230"/>
          <p:cNvSpPr txBox="1"/>
          <p:nvPr/>
        </p:nvSpPr>
        <p:spPr>
          <a:xfrm>
            <a:off x="640080" y="4572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Faut-il exposer la prime, la surprime et l'assurance à la personne ? (DPO)</a:t>
            </a:r>
            <a:endParaRPr lang="en-US" sz="1300" dirty="0"/>
          </a:p>
        </p:txBody>
      </p:sp>
      <p:sp>
        <p:nvSpPr>
          <p:cNvPr id="23" name="Question_231"/>
          <p:cNvSpPr/>
          <p:nvPr/>
        </p:nvSpPr>
        <p:spPr>
          <a:xfrm>
            <a:off x="3291840" y="37033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Numero_232"/>
          <p:cNvSpPr/>
          <p:nvPr/>
        </p:nvSpPr>
        <p:spPr>
          <a:xfrm>
            <a:off x="3474720" y="38862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5" name="Libelle_233"/>
          <p:cNvSpPr txBox="1"/>
          <p:nvPr/>
        </p:nvSpPr>
        <p:spPr>
          <a:xfrm>
            <a:off x="411480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R.SEC.6</a:t>
            </a:r>
            <a:endParaRPr lang="en-US" sz="1400" dirty="0"/>
          </a:p>
        </p:txBody>
      </p:sp>
      <p:sp>
        <p:nvSpPr>
          <p:cNvPr id="26" name="Libelle_234"/>
          <p:cNvSpPr txBox="1"/>
          <p:nvPr/>
        </p:nvSpPr>
        <p:spPr>
          <a:xfrm>
            <a:off x="3474720" y="4572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Règle absente des documents reçus</a:t>
            </a:r>
            <a:endParaRPr lang="en-US" sz="1300" dirty="0"/>
          </a:p>
        </p:txBody>
      </p:sp>
      <p:sp>
        <p:nvSpPr>
          <p:cNvPr id="27" name="Question_235"/>
          <p:cNvSpPr/>
          <p:nvPr/>
        </p:nvSpPr>
        <p:spPr>
          <a:xfrm>
            <a:off x="6126480" y="37033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Numero_236"/>
          <p:cNvSpPr/>
          <p:nvPr/>
        </p:nvSpPr>
        <p:spPr>
          <a:xfrm>
            <a:off x="6309360" y="38862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9" name="Libelle_237"/>
          <p:cNvSpPr txBox="1"/>
          <p:nvPr/>
        </p:nvSpPr>
        <p:spPr>
          <a:xfrm>
            <a:off x="694944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Liaison interne</a:t>
            </a:r>
            <a:endParaRPr lang="en-US" sz="1400" dirty="0"/>
          </a:p>
        </p:txBody>
      </p:sp>
      <p:sp>
        <p:nvSpPr>
          <p:cNvPr id="30" name="Libelle_238"/>
          <p:cNvSpPr txBox="1"/>
          <p:nvPr/>
        </p:nvSpPr>
        <p:spPr>
          <a:xfrm>
            <a:off x="6309360" y="4572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mTLS aussi entre Apigee et Dataiku, ou seulement entre le chatbot et Apigee ?</a:t>
            </a:r>
            <a:endParaRPr lang="en-US" sz="1300" dirty="0"/>
          </a:p>
        </p:txBody>
      </p:sp>
      <p:sp>
        <p:nvSpPr>
          <p:cNvPr id="31" name="Question_239"/>
          <p:cNvSpPr/>
          <p:nvPr/>
        </p:nvSpPr>
        <p:spPr>
          <a:xfrm>
            <a:off x="8961120" y="37033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Numero_240"/>
          <p:cNvSpPr/>
          <p:nvPr/>
        </p:nvSpPr>
        <p:spPr>
          <a:xfrm>
            <a:off x="9144000" y="38862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3" name="Libelle_241"/>
          <p:cNvSpPr txBox="1"/>
          <p:nvPr/>
        </p:nvSpPr>
        <p:spPr>
          <a:xfrm>
            <a:off x="978408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Certificat client</a:t>
            </a:r>
            <a:endParaRPr lang="en-US" sz="1400" dirty="0"/>
          </a:p>
        </p:txBody>
      </p:sp>
      <p:sp>
        <p:nvSpPr>
          <p:cNvPr id="34" name="Libelle_242"/>
          <p:cNvSpPr txBox="1"/>
          <p:nvPr/>
        </p:nvSpPr>
        <p:spPr>
          <a:xfrm>
            <a:off x="9144000" y="4572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chatbot peut-il présenter un certificat client pour le mTLS 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Chiffrage</a:t>
            </a:r>
            <a:endParaRPr lang="en-US" sz="2800" dirty="0"/>
          </a:p>
        </p:txBody>
      </p:sp>
      <p:graphicFrame>
        <p:nvGraphicFramePr>
          <p:cNvPr id="17" name="Tableau_2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766560"/>
                <a:gridCol w="9144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Étape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Jours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PostgreSQL de prod : schéma, utilisateur lecture seule pour l'API, utilisateur d'écriture pour le flow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Flow : chargement du CSV.gz vers PostgreSQL, colonnes pays et identifiant nettoyé, typage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Contrôles qualité (schéma, volumétrie, doublons, valeurs vides, désignations incohérentes), blocage si échec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Index, scénario de mise à jour hors heures d'appel, alertes en cas d'échec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Service API : endpoints identify et contract, tests unitaires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Déploiement lab → prod, connexion, pilote JDBC, clé API, réglage du pool de connexions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Tests de bout en bout avec le chatbot et test de charge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otal_244"/>
          <p:cNvSpPr/>
          <p:nvPr/>
        </p:nvSpPr>
        <p:spPr>
          <a:xfrm>
            <a:off x="9052560" y="118872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belle_245"/>
          <p:cNvSpPr txBox="1"/>
          <p:nvPr/>
        </p:nvSpPr>
        <p:spPr>
          <a:xfrm>
            <a:off x="923544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15 jours</a:t>
            </a:r>
            <a:endParaRPr lang="en-US" sz="4000" dirty="0"/>
          </a:p>
        </p:txBody>
      </p:sp>
      <p:sp>
        <p:nvSpPr>
          <p:cNvPr id="6" name="Libelle_246"/>
          <p:cNvSpPr txBox="1"/>
          <p:nvPr/>
        </p:nvSpPr>
        <p:spPr>
          <a:xfrm>
            <a:off x="9235440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Développeur confirmé, profil MLOps / data engineering</a:t>
            </a:r>
            <a:endParaRPr lang="en-US" sz="1200" dirty="0"/>
          </a:p>
        </p:txBody>
      </p:sp>
      <p:sp>
        <p:nvSpPr>
          <p:cNvPr id="7" name="Libelle_247"/>
          <p:cNvSpPr txBox="1"/>
          <p:nvPr/>
        </p:nvSpPr>
        <p:spPr>
          <a:xfrm>
            <a:off x="9052560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Hors cadrage, supervision, documentation, passation et marge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Chiffrage consolidé</a:t>
            </a:r>
            <a:endParaRPr lang="en-US" sz="2800" dirty="0"/>
          </a:p>
        </p:txBody>
      </p:sp>
      <p:sp>
        <p:nvSpPr>
          <p:cNvPr id="3" name="Libelle_248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Avec la sécurité et la protection des données, le chiffrage passe de 15 à 24 jours.</a:t>
            </a:r>
            <a:endParaRPr lang="en-US" sz="1300" dirty="0"/>
          </a:p>
        </p:txBody>
      </p:sp>
      <p:graphicFrame>
        <p:nvGraphicFramePr>
          <p:cNvPr id="18" name="Tableau_2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212080"/>
                <a:gridCol w="9144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Bloc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Contenu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Jours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PostgreSQL, flow, contrôles qualité, endpoints, déploiement, tests de bout en bout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Sécurité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Authentification OAuth2 / JWT (+2), tests de sécurité (+1), accompagnement du pentest (+2)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Sensibilité des données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Minimisation (+1), vérification d'identité dans l'API (+1,5), journal d'audit (+1), documentation (+0,5)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Risque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Reverse proxy devant l'API Node si le scan TLS échoue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otal_250"/>
          <p:cNvSpPr/>
          <p:nvPr/>
        </p:nvSpPr>
        <p:spPr>
          <a:xfrm>
            <a:off x="9052560" y="146304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belle_251"/>
          <p:cNvSpPr txBox="1"/>
          <p:nvPr/>
        </p:nvSpPr>
        <p:spPr>
          <a:xfrm>
            <a:off x="923544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24 jours</a:t>
            </a:r>
            <a:endParaRPr lang="en-US" sz="4000" dirty="0"/>
          </a:p>
        </p:txBody>
      </p:sp>
      <p:sp>
        <p:nvSpPr>
          <p:cNvPr id="7" name="Libelle_252"/>
          <p:cNvSpPr txBox="1"/>
          <p:nvPr/>
        </p:nvSpPr>
        <p:spPr>
          <a:xfrm>
            <a:off x="9235440" y="2697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Développeur confirmé, profil MLOps / data engineering</a:t>
            </a:r>
            <a:endParaRPr lang="en-US" sz="1200" dirty="0"/>
          </a:p>
        </p:txBody>
      </p:sp>
      <p:sp>
        <p:nvSpPr>
          <p:cNvPr id="8" name="Libelle_253"/>
          <p:cNvSpPr txBox="1"/>
          <p:nvPr/>
        </p:nvSpPr>
        <p:spPr>
          <a:xfrm>
            <a:off x="9052560" y="4069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Hors travaux des équipes Apigee, DPO, RSSI et infra, et hors cadrage, supervision, documentation, passation et marge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Points ouverts</a:t>
            </a:r>
            <a:endParaRPr lang="en-US" sz="2800" dirty="0"/>
          </a:p>
        </p:txBody>
      </p:sp>
      <p:sp>
        <p:nvSpPr>
          <p:cNvPr id="3" name="Point_254"/>
          <p:cNvSpPr/>
          <p:nvPr/>
        </p:nvSpPr>
        <p:spPr>
          <a:xfrm>
            <a:off x="457200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Numero_255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Libelle_256"/>
          <p:cNvSpPr txBox="1"/>
          <p:nvPr/>
        </p:nvSpPr>
        <p:spPr>
          <a:xfrm>
            <a:off x="137160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Canal de repli</a:t>
            </a:r>
            <a:endParaRPr lang="en-US" sz="1500" dirty="0"/>
          </a:p>
        </p:txBody>
      </p:sp>
      <p:sp>
        <p:nvSpPr>
          <p:cNvPr id="6" name="Libelle_257"/>
          <p:cNvSpPr txBox="1"/>
          <p:nvPr/>
        </p:nvSpPr>
        <p:spPr>
          <a:xfrm>
            <a:off x="685800" y="2240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 canal indiquer au client en Fin A (email, site, espace client) ?</a:t>
            </a:r>
            <a:endParaRPr lang="en-US" sz="1300" dirty="0"/>
          </a:p>
        </p:txBody>
      </p:sp>
      <p:sp>
        <p:nvSpPr>
          <p:cNvPr id="7" name="Point_258"/>
          <p:cNvSpPr/>
          <p:nvPr/>
        </p:nvSpPr>
        <p:spPr>
          <a:xfrm>
            <a:off x="4224528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Numero_259"/>
          <p:cNvSpPr/>
          <p:nvPr/>
        </p:nvSpPr>
        <p:spPr>
          <a:xfrm>
            <a:off x="4453128" y="1508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Libelle_260"/>
          <p:cNvSpPr txBox="1"/>
          <p:nvPr/>
        </p:nvSpPr>
        <p:spPr>
          <a:xfrm>
            <a:off x="5138928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Numéro appelé</a:t>
            </a:r>
            <a:endParaRPr lang="en-US" sz="1500" dirty="0"/>
          </a:p>
        </p:txBody>
      </p:sp>
      <p:sp>
        <p:nvSpPr>
          <p:cNvPr id="10" name="Libelle_261"/>
          <p:cNvSpPr txBox="1"/>
          <p:nvPr/>
        </p:nvSpPr>
        <p:spPr>
          <a:xfrm>
            <a:off x="4453128" y="2240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téléphonie fournit-elle le numéro appelé pour déduire le pays ?</a:t>
            </a:r>
            <a:endParaRPr lang="en-US" sz="1300" dirty="0"/>
          </a:p>
        </p:txBody>
      </p:sp>
      <p:sp>
        <p:nvSpPr>
          <p:cNvPr id="11" name="Point_262"/>
          <p:cNvSpPr/>
          <p:nvPr/>
        </p:nvSpPr>
        <p:spPr>
          <a:xfrm>
            <a:off x="7991856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Numero_263"/>
          <p:cNvSpPr/>
          <p:nvPr/>
        </p:nvSpPr>
        <p:spPr>
          <a:xfrm>
            <a:off x="8220456" y="1508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Libelle_264"/>
          <p:cNvSpPr txBox="1"/>
          <p:nvPr/>
        </p:nvSpPr>
        <p:spPr>
          <a:xfrm>
            <a:off x="8906256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Code UK</a:t>
            </a:r>
            <a:endParaRPr lang="en-US" sz="1500" dirty="0"/>
          </a:p>
        </p:txBody>
      </p:sp>
      <p:sp>
        <p:nvSpPr>
          <p:cNvPr id="14" name="Libelle_265"/>
          <p:cNvSpPr txBox="1"/>
          <p:nvPr/>
        </p:nvSpPr>
        <p:spPr>
          <a:xfrm>
            <a:off x="8220456" y="2240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 est le format exact du code UK, pour vérifier sa validité ?</a:t>
            </a:r>
            <a:endParaRPr lang="en-US" sz="1300" dirty="0"/>
          </a:p>
        </p:txBody>
      </p:sp>
      <p:sp>
        <p:nvSpPr>
          <p:cNvPr id="15" name="Point_266"/>
          <p:cNvSpPr/>
          <p:nvPr/>
        </p:nvSpPr>
        <p:spPr>
          <a:xfrm>
            <a:off x="45720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Numero_267"/>
          <p:cNvSpPr/>
          <p:nvPr/>
        </p:nvSpPr>
        <p:spPr>
          <a:xfrm>
            <a:off x="685800" y="3886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Libelle_268"/>
          <p:cNvSpPr txBox="1"/>
          <p:nvPr/>
        </p:nvSpPr>
        <p:spPr>
          <a:xfrm>
            <a:off x="137160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N° de contrat inconnu</a:t>
            </a:r>
            <a:endParaRPr lang="en-US" sz="1500" dirty="0"/>
          </a:p>
        </p:txBody>
      </p:sp>
      <p:sp>
        <p:nvSpPr>
          <p:cNvPr id="18" name="Libelle_269"/>
          <p:cNvSpPr txBox="1"/>
          <p:nvPr/>
        </p:nvSpPr>
        <p:spPr>
          <a:xfrm>
            <a:off x="685800" y="4617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 faire si le client ne connaît pas son n° de contrat ? Une liste demanderait un 3e endpoint</a:t>
            </a:r>
            <a:endParaRPr lang="en-US" sz="1300" dirty="0"/>
          </a:p>
        </p:txBody>
      </p:sp>
      <p:sp>
        <p:nvSpPr>
          <p:cNvPr id="19" name="Point_270"/>
          <p:cNvSpPr/>
          <p:nvPr/>
        </p:nvSpPr>
        <p:spPr>
          <a:xfrm>
            <a:off x="4224528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Numero_271"/>
          <p:cNvSpPr/>
          <p:nvPr/>
        </p:nvSpPr>
        <p:spPr>
          <a:xfrm>
            <a:off x="4453128" y="3886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Libelle_272"/>
          <p:cNvSpPr txBox="1"/>
          <p:nvPr/>
        </p:nvSpPr>
        <p:spPr>
          <a:xfrm>
            <a:off x="5138928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Authentification</a:t>
            </a:r>
            <a:endParaRPr lang="en-US" sz="1500" dirty="0"/>
          </a:p>
        </p:txBody>
      </p:sp>
      <p:sp>
        <p:nvSpPr>
          <p:cNvPr id="22" name="Libelle_273"/>
          <p:cNvSpPr txBox="1"/>
          <p:nvPr/>
        </p:nvSpPr>
        <p:spPr>
          <a:xfrm>
            <a:off x="4453128" y="4617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 mode d'authentification le chatbot attend-il ?</a:t>
            </a:r>
            <a:endParaRPr lang="en-US" sz="1300" dirty="0"/>
          </a:p>
        </p:txBody>
      </p:sp>
      <p:sp>
        <p:nvSpPr>
          <p:cNvPr id="23" name="Point_274"/>
          <p:cNvSpPr/>
          <p:nvPr/>
        </p:nvSpPr>
        <p:spPr>
          <a:xfrm>
            <a:off x="7991856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Numero_275"/>
          <p:cNvSpPr/>
          <p:nvPr/>
        </p:nvSpPr>
        <p:spPr>
          <a:xfrm>
            <a:off x="8220456" y="3886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Libelle_276"/>
          <p:cNvSpPr txBox="1"/>
          <p:nvPr/>
        </p:nvSpPr>
        <p:spPr>
          <a:xfrm>
            <a:off x="8906256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Version Dataiku</a:t>
            </a:r>
            <a:endParaRPr lang="en-US" sz="1500" dirty="0"/>
          </a:p>
        </p:txBody>
      </p:sp>
      <p:sp>
        <p:nvSpPr>
          <p:cNvPr id="26" name="Libelle_277"/>
          <p:cNvSpPr txBox="1"/>
          <p:nvPr/>
        </p:nvSpPr>
        <p:spPr>
          <a:xfrm>
            <a:off x="8220456" y="4617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Vérifier les fonctionnements décrits sur la documentation 13.2 (doc consultée : version 15)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Annexe : texte complet des règles de sécurité (1/2)</a:t>
            </a:r>
            <a:endParaRPr lang="en-US" sz="2800" dirty="0"/>
          </a:p>
        </p:txBody>
      </p:sp>
      <p:graphicFrame>
        <p:nvGraphicFramePr>
          <p:cNvPr id="20" name="Tableau_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29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Règle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Texte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R.URL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Utiliser HTTPS ; NE PAS tolérer le HTTP en clair pour les points de terminaison.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R.SEC.1 – Utilisation de la version TLS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Utiliser TLS ≥ v1.2 ; NE PAS utiliser TLS v1.1 (dérogation uniquement).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R.SEC.2 – Suites de chiffrement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Utiliser les chiffrements validés par le Groupe (voir ITRMG-PRO2-CRY-TLS Configuration) ; NE PAS utiliser les primitives interdites/obsolètes (ex. ADH, NULL, chiffrements d'export, 40/56-bit, RC4, 3DES, etc.).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R.SEC.3 – Hygiène des en-têtes HTTP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Supprimer tous les en-têtes de réponse HTTP inutiles (ex. Server, Via, X-Forwarded-For, X-Powered-By).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R.SEC.4 – En-têtes de sécurité &amp; CORS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Ajouter des en-têtes de sécurité : X-Content-Type-Options = nosniff, Content-Security-Policy ; DOIT remplacer X-Frame-Options par CSP ; DOIT utiliser CORS pour spécifier les requêtes inter-domaines autorisées.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R.SEC.5 – Contrôles d'authentification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DOIT répondre aux exigences de sécurité pour les échanges API machine-à-machine (authentification mutuelle) ; DEVRAIT utiliser mTLS/OAuth 2 pour l'authentification applicative ; DEVRAIT utiliser OIDC/SAML 2.0 pour l'authentification utilisateur dans les contextes machine-à-machine.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Annexe : texte complet des règles de sécurité (2/2)</a:t>
            </a:r>
            <a:endParaRPr lang="en-US" sz="2800" dirty="0"/>
          </a:p>
        </p:txBody>
      </p:sp>
      <p:graphicFrame>
        <p:nvGraphicFramePr>
          <p:cNvPr id="21" name="Tableau_2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29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Règle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Texte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R.SEC.7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Une passerelle API DOIT avoir exactement un serveur d'autorisation de référence.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R.SEC.8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Utiliser OAuth 2 pour générer les jetons d'accès.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R.SEC.9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Une passerelle API PEUT appliquer uniquement des autorisations granulaire grossière, qui DOIT être basée exclusivement sur le contenu du jeton d'accès (signature + expiration).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R.SEC.10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Une passerelle API DOIT supporter les flux OAuth 2 Client-Credential et Authorization Code (PKCE facultatif après analyse de risque).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R.SEC.11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Tout autre flux OAuth 2 DOIT subir une analyse de risque et être soumis à l'acceptation ou au refus de la direction.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R.SEC.12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L'authentification du propriétaire de la ressource DOIT être réalisée avec SAML 2 ou OIDC (fédération autorisée).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R.SEC.13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Appliquer un principe du moindre privilège : les consommateurs doivent n'avoir accès qu'aux données réellement nécessaires (par personne et scénario), conformément au RGPD.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</a:rPr>
                        <a:t>R.SEC.14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Les jetons d'accès utilisés pour l'authentification API DOIVENT avoir une durée de vie maximale de 30 minutes.</a:t>
                      </a:r>
                      <a:endParaRPr lang="en-US" sz="13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I Chatbot Contrats">
  <a:themeElements>
    <a:clrScheme name="API Chatbot Contrats">
      <a:dk1>
        <a:srgbClr val="1F2421"/>
      </a:dk1>
      <a:lt1>
        <a:srgbClr val="FFFFFF"/>
      </a:lt1>
      <a:dk2>
        <a:srgbClr val="00573F"/>
      </a:dk2>
      <a:lt2>
        <a:srgbClr val="EAF4EF"/>
      </a:lt2>
      <a:accent1>
        <a:srgbClr val="00855F"/>
      </a:accent1>
      <a:accent2>
        <a:srgbClr val="9CCDB5"/>
      </a:accent2>
      <a:accent3>
        <a:srgbClr val="5F6B66"/>
      </a:accent3>
      <a:accent4>
        <a:srgbClr val="B23B2E"/>
      </a:accent4>
      <a:accent5>
        <a:srgbClr val="D9DEDB"/>
      </a:accent5>
      <a:accent6>
        <a:srgbClr val="F3F5F4"/>
      </a:accent6>
      <a:hlink>
        <a:srgbClr val="00855F"/>
      </a:hlink>
      <a:folHlink>
        <a:srgbClr val="5F6B66"/>
      </a:folHlink>
    </a:clrScheme>
    <a:fontScheme name="API Chatbot Contra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d'exposition des contrats pour le chatbot</dc:title>
  <dc:subject>PptxGenJS Presentation</dc:subject>
  <dc:creator>PptxGenJS</dc:creator>
  <cp:lastModifiedBy>PptxGenJS</cp:lastModifiedBy>
  <cp:revision>1</cp:revision>
  <dcterms:created xsi:type="dcterms:W3CDTF">2026-10-20T08:19:53Z</dcterms:created>
  <dcterms:modified xsi:type="dcterms:W3CDTF">2026-10-20T08:19:53Z</dcterms:modified>
</cp:coreProperties>
</file>