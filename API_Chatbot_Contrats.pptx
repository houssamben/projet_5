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0b70391-0fb2-1baf-04f4-de0936051874}">
          <p14:sldIdLst>
            <p14:sldId id="256"/>
            <p14:sldId id="257"/>
            <p14:sldId id="258"/>
          </p14:sldIdLst>
        </p14:section>
        <p14:section name="Architecture et conception" id="{871d3654-44a5-112c-f41a-e74700bd2b2f}">
          <p14:sldIdLst>
            <p14:sldId id="259"/>
            <p14:sldId id="260"/>
            <p14:sldId id="261"/>
            <p14:sldId id="262"/>
          </p14:sldIdLst>
        </p14:section>
        <p14:section name="Parcours" id="{288e0018-9c10-2519-a96d-cb10694704f4}">
          <p14:sldIdLst>
            <p14:sldId id="263"/>
            <p14:sldId id="264"/>
          </p14:sldIdLst>
        </p14:section>
        <p14:section name="Chiffrage et suite" id="{91222c85-0930-e660-3726-e57aab25925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API Chatbot – Contrats | Dataiku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API d'exposition des contrats pour le chatbot téléphonique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Contexte, architecture, conception, parcours et chiffrage</a:t>
            </a:r>
            <a:endParaRPr lang="en-US" sz="2000" dirty="0"/>
          </a:p>
        </p:txBody>
      </p:sp>
      <p:sp>
        <p:nvSpPr>
          <p:cNvPr id="4" name="Libelle_1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Octobre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Contexte du projet</a:t>
            </a:r>
            <a:endParaRPr lang="en-US" sz="2800" dirty="0"/>
          </a:p>
        </p:txBody>
      </p:sp>
      <p:sp>
        <p:nvSpPr>
          <p:cNvPr id="3" name="Libelle_2"/>
          <p:cNvSpPr txBox="1"/>
          <p:nvPr/>
        </p:nvSpPr>
        <p:spPr>
          <a:xfrm>
            <a:off x="457200" y="1188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Situation actuelle</a:t>
            </a:r>
            <a:endParaRPr lang="en-US" sz="1800" dirty="0"/>
          </a:p>
        </p:txBody>
      </p:sp>
      <p:sp>
        <p:nvSpPr>
          <p:cNvPr id="4" name="Texte_3"/>
          <p:cNvSpPr txBox="1"/>
          <p:nvPr/>
        </p:nvSpPr>
        <p:spPr>
          <a:xfrm>
            <a:off x="457200" y="16002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 projet Dataiku, aujourd'hui en lab, produit un dataset de contrats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dataset est stocké dans IBM Cloud Object Storage (COS) en CSV compressé (.csv.gz)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projet doit passer du lab à la production</a:t>
            </a:r>
            <a:endParaRPr lang="en-US" sz="1500" dirty="0"/>
          </a:p>
        </p:txBody>
      </p:sp>
      <p:sp>
        <p:nvSpPr>
          <p:cNvPr id="5" name="Libelle_4"/>
          <p:cNvSpPr txBox="1"/>
          <p:nvPr/>
        </p:nvSpPr>
        <p:spPr>
          <a:xfrm>
            <a:off x="457200" y="3291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Objectif</a:t>
            </a:r>
            <a:endParaRPr lang="en-US" sz="1800" dirty="0"/>
          </a:p>
        </p:txBody>
      </p:sp>
      <p:sp>
        <p:nvSpPr>
          <p:cNvPr id="6" name="Texte_5"/>
          <p:cNvSpPr txBox="1"/>
          <p:nvPr/>
        </p:nvSpPr>
        <p:spPr>
          <a:xfrm>
            <a:off x="457200" y="370332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Exposer ces données via une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L'API est consommée par un chatbot que les clients appellent par téléphone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 client s'identifie (SIREN pour la France, code pour le Royaume-Uni), confirme son identité, puis pose ses questions sur un ou plusieurs contrats</a:t>
            </a:r>
            <a:endParaRPr lang="en-US" sz="1500" dirty="0"/>
          </a:p>
        </p:txBody>
      </p:sp>
      <p:sp>
        <p:nvSpPr>
          <p:cNvPr id="7" name="Carte_6"/>
          <p:cNvSpPr/>
          <p:nvPr/>
        </p:nvSpPr>
        <p:spPr>
          <a:xfrm>
            <a:off x="7863840" y="12344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ibelle_7"/>
          <p:cNvSpPr txBox="1"/>
          <p:nvPr/>
        </p:nvSpPr>
        <p:spPr>
          <a:xfrm>
            <a:off x="809244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500 000</a:t>
            </a:r>
            <a:endParaRPr lang="en-US" sz="3200" dirty="0"/>
          </a:p>
        </p:txBody>
      </p:sp>
      <p:sp>
        <p:nvSpPr>
          <p:cNvPr id="9" name="Libelle_8"/>
          <p:cNvSpPr txBox="1"/>
          <p:nvPr/>
        </p:nvSpPr>
        <p:spPr>
          <a:xfrm>
            <a:off x="809244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lignes (une ligne par contrat)</a:t>
            </a:r>
            <a:endParaRPr lang="en-US" sz="1200" dirty="0"/>
          </a:p>
        </p:txBody>
      </p:sp>
      <p:sp>
        <p:nvSpPr>
          <p:cNvPr id="10" name="Carte_9"/>
          <p:cNvSpPr/>
          <p:nvPr/>
        </p:nvSpPr>
        <p:spPr>
          <a:xfrm>
            <a:off x="7863840" y="28346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Libelle_10"/>
          <p:cNvSpPr txBox="1"/>
          <p:nvPr/>
        </p:nvSpPr>
        <p:spPr>
          <a:xfrm>
            <a:off x="809244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50 Mo</a:t>
            </a:r>
            <a:endParaRPr lang="en-US" sz="3200" dirty="0"/>
          </a:p>
        </p:txBody>
      </p:sp>
      <p:sp>
        <p:nvSpPr>
          <p:cNvPr id="12" name="Libelle_11"/>
          <p:cNvSpPr txBox="1"/>
          <p:nvPr/>
        </p:nvSpPr>
        <p:spPr>
          <a:xfrm>
            <a:off x="8092440" y="3611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fichier CSV compressé</a:t>
            </a:r>
            <a:endParaRPr lang="en-US" sz="1200" dirty="0"/>
          </a:p>
        </p:txBody>
      </p:sp>
      <p:sp>
        <p:nvSpPr>
          <p:cNvPr id="13" name="Carte_12"/>
          <p:cNvSpPr/>
          <p:nvPr/>
        </p:nvSpPr>
        <p:spPr>
          <a:xfrm>
            <a:off x="7863840" y="4434840"/>
            <a:ext cx="384048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Libelle_13"/>
          <p:cNvSpPr txBox="1"/>
          <p:nvPr/>
        </p:nvSpPr>
        <p:spPr>
          <a:xfrm>
            <a:off x="8092440" y="45720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1 000</a:t>
            </a:r>
            <a:endParaRPr lang="en-US" sz="3200" dirty="0"/>
          </a:p>
        </p:txBody>
      </p:sp>
      <p:sp>
        <p:nvSpPr>
          <p:cNvPr id="15" name="Libelle_14"/>
          <p:cNvSpPr txBox="1"/>
          <p:nvPr/>
        </p:nvSpPr>
        <p:spPr>
          <a:xfrm>
            <a:off x="8092440" y="5212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contrats maximum par client, majoritairement terminés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Parcours de l'appelant</a:t>
            </a:r>
            <a:endParaRPr lang="en-US" sz="2800" dirty="0"/>
          </a:p>
        </p:txBody>
      </p:sp>
      <p:sp>
        <p:nvSpPr>
          <p:cNvPr id="3" name="Etape_15"/>
          <p:cNvSpPr/>
          <p:nvPr/>
        </p:nvSpPr>
        <p:spPr>
          <a:xfrm>
            <a:off x="45720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ero_16"/>
          <p:cNvSpPr/>
          <p:nvPr/>
        </p:nvSpPr>
        <p:spPr>
          <a:xfrm>
            <a:off x="73152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Libelle_17"/>
          <p:cNvSpPr txBox="1"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Identification</a:t>
            </a:r>
            <a:endParaRPr lang="en-US" sz="1800" dirty="0"/>
          </a:p>
        </p:txBody>
      </p:sp>
      <p:sp>
        <p:nvSpPr>
          <p:cNvPr id="6" name="Libelle_18"/>
          <p:cNvSpPr txBox="1"/>
          <p:nvPr/>
        </p:nvSpPr>
        <p:spPr>
          <a:xfrm>
            <a:off x="73152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client donne son SIREN (France) ou son code (Royaume-Uni)</a:t>
            </a:r>
            <a:endParaRPr lang="en-US" sz="1400" dirty="0"/>
          </a:p>
        </p:txBody>
      </p:sp>
      <p:sp>
        <p:nvSpPr>
          <p:cNvPr id="7" name="Fleche_19"/>
          <p:cNvSpPr/>
          <p:nvPr/>
        </p:nvSpPr>
        <p:spPr>
          <a:xfrm>
            <a:off x="3794760" y="3291840"/>
            <a:ext cx="548640" cy="0"/>
          </a:xfrm>
          <a:prstGeom prst="line">
            <a:avLst/>
          </a:prstGeom>
          <a:noFill/>
          <a:ln w="25400">
            <a:solidFill>
              <a:srgbClr val="00855F"/>
            </a:solidFill>
            <a:prstDash val="solid"/>
            <a:tailEnd type="triangle"/>
          </a:ln>
        </p:spPr>
      </p:sp>
      <p:sp>
        <p:nvSpPr>
          <p:cNvPr id="8" name="Etape_20"/>
          <p:cNvSpPr/>
          <p:nvPr/>
        </p:nvSpPr>
        <p:spPr>
          <a:xfrm>
            <a:off x="438912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Numero_21"/>
          <p:cNvSpPr/>
          <p:nvPr/>
        </p:nvSpPr>
        <p:spPr>
          <a:xfrm>
            <a:off x="466344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Libelle_22"/>
          <p:cNvSpPr txBox="1"/>
          <p:nvPr/>
        </p:nvSpPr>
        <p:spPr>
          <a:xfrm>
            <a:off x="466344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Vérification</a:t>
            </a:r>
            <a:endParaRPr lang="en-US" sz="1800" dirty="0"/>
          </a:p>
        </p:txBody>
      </p:sp>
      <p:sp>
        <p:nvSpPr>
          <p:cNvPr id="11" name="Libelle_23"/>
          <p:cNvSpPr txBox="1"/>
          <p:nvPr/>
        </p:nvSpPr>
        <p:spPr>
          <a:xfrm>
            <a:off x="466344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chatbot demande le nom de la société et le compare à la désignation renvoyée par l'API</a:t>
            </a:r>
            <a:endParaRPr lang="en-US" sz="1400" dirty="0"/>
          </a:p>
        </p:txBody>
      </p:sp>
      <p:sp>
        <p:nvSpPr>
          <p:cNvPr id="12" name="Fleche_24"/>
          <p:cNvSpPr/>
          <p:nvPr/>
        </p:nvSpPr>
        <p:spPr>
          <a:xfrm>
            <a:off x="7726680" y="3291840"/>
            <a:ext cx="548640" cy="0"/>
          </a:xfrm>
          <a:prstGeom prst="line">
            <a:avLst/>
          </a:prstGeom>
          <a:noFill/>
          <a:ln w="25400">
            <a:solidFill>
              <a:srgbClr val="00855F"/>
            </a:solidFill>
            <a:prstDash val="solid"/>
            <a:tailEnd type="triangle"/>
          </a:ln>
        </p:spPr>
      </p:sp>
      <p:sp>
        <p:nvSpPr>
          <p:cNvPr id="13" name="Etape_25"/>
          <p:cNvSpPr/>
          <p:nvPr/>
        </p:nvSpPr>
        <p:spPr>
          <a:xfrm>
            <a:off x="832104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Numero_26"/>
          <p:cNvSpPr/>
          <p:nvPr/>
        </p:nvSpPr>
        <p:spPr>
          <a:xfrm>
            <a:off x="8595360" y="2011680"/>
            <a:ext cx="731520" cy="7315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Libelle_27"/>
          <p:cNvSpPr txBox="1"/>
          <p:nvPr/>
        </p:nvSpPr>
        <p:spPr>
          <a:xfrm>
            <a:off x="859536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Questions sur le contrat</a:t>
            </a:r>
            <a:endParaRPr lang="en-US" sz="1800" dirty="0"/>
          </a:p>
        </p:txBody>
      </p:sp>
      <p:sp>
        <p:nvSpPr>
          <p:cNvPr id="16" name="Libelle_28"/>
          <p:cNvSpPr txBox="1"/>
          <p:nvPr/>
        </p:nvSpPr>
        <p:spPr>
          <a:xfrm>
            <a:off x="8595360" y="34290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client donne un n° de contrat et pose ses questions. Il peut recommencer pour un autre contrat</a:t>
            </a:r>
            <a:endParaRPr lang="en-US" sz="1400" dirty="0"/>
          </a:p>
        </p:txBody>
      </p:sp>
      <p:sp>
        <p:nvSpPr>
          <p:cNvPr id="17" name="Note_29"/>
          <p:cNvSpPr/>
          <p:nvPr/>
        </p:nvSpPr>
        <p:spPr>
          <a:xfrm>
            <a:off x="457200" y="5257800"/>
            <a:ext cx="11155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ibelle_30"/>
          <p:cNvSpPr txBox="1"/>
          <p:nvPr/>
        </p:nvSpPr>
        <p:spPr>
          <a:xfrm>
            <a:off x="73152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couple identifiant + n° de contrat est unique. Un client peut avoir jusqu'à 1 000 contrats.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Décisions d'architecture</a:t>
            </a:r>
            <a:endParaRPr lang="en-US" sz="2800" dirty="0"/>
          </a:p>
        </p:txBody>
      </p:sp>
      <p:graphicFrame>
        <p:nvGraphicFramePr>
          <p:cNvPr id="5" name="Tableau_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374904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Décision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Choix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Pourquoi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Stockage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CSV du COS chargé dans PostgreSQL de prod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Recherche instantanée sur 500 000 lignes, mise à jour sans redéployer l'API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Organisation de l'API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service, 2 endpoints : identify et contract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 seul déploiement, une seule sécurité, un seul suivi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Type d'endpoint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 query (Dataiku)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Gère un client à 1 000 contrats, pas de table « clients » en double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Mise à jour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seule table, mise à jour hors heures d'appel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Plus simple ; pas d'appels pendant le rafraîchissement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Identifiant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Pays + identifiant nettoyé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Tolère les formats dictés, évite la confusion SIREN / code UK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Vérification de la désignation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 le chatbot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Cohérent avec 2 endpoints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Accès au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 chatbot n'appelle contract qu'après identification ; l'API exige identifiant + n°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Double sécurité : impossible de lire le contrat d'un autre client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Schéma d'architecture</a:t>
            </a:r>
            <a:endParaRPr lang="en-US" sz="2800" dirty="0"/>
          </a:p>
        </p:txBody>
      </p:sp>
      <p:sp>
        <p:nvSpPr>
          <p:cNvPr id="3" name="Libelle_32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Temps réel (pendant l'appel)</a:t>
            </a:r>
            <a:endParaRPr lang="en-US" sz="1200" dirty="0"/>
          </a:p>
        </p:txBody>
      </p:sp>
      <p:sp>
        <p:nvSpPr>
          <p:cNvPr id="4" name="Client_33"/>
          <p:cNvSpPr/>
          <p:nvPr/>
        </p:nvSpPr>
        <p:spPr>
          <a:xfrm>
            <a:off x="457200" y="17373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(téléphone)</a:t>
            </a:r>
            <a:endParaRPr lang="en-US" sz="1300" dirty="0"/>
          </a:p>
        </p:txBody>
      </p:sp>
      <p:sp>
        <p:nvSpPr>
          <p:cNvPr id="5" name="Chatbot_34"/>
          <p:cNvSpPr/>
          <p:nvPr/>
        </p:nvSpPr>
        <p:spPr>
          <a:xfrm>
            <a:off x="2834640" y="173736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Chatbot vocal</a:t>
            </a:r>
            <a:endParaRPr lang="en-US" sz="1300" dirty="0"/>
          </a:p>
        </p:txBody>
      </p:sp>
      <p:sp>
        <p:nvSpPr>
          <p:cNvPr id="6" name="APINode_35"/>
          <p:cNvSpPr/>
          <p:nvPr/>
        </p:nvSpPr>
        <p:spPr>
          <a:xfrm>
            <a:off x="5486400" y="1371600"/>
            <a:ext cx="32918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Libelle_36"/>
          <p:cNvSpPr txBox="1"/>
          <p:nvPr/>
        </p:nvSpPr>
        <p:spPr>
          <a:xfrm>
            <a:off x="5623560" y="1444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API Node Dataiku – 1 service API</a:t>
            </a:r>
            <a:endParaRPr lang="en-US" sz="1200" dirty="0"/>
          </a:p>
        </p:txBody>
      </p:sp>
      <p:sp>
        <p:nvSpPr>
          <p:cNvPr id="8" name="Endpoint_identify_37"/>
          <p:cNvSpPr/>
          <p:nvPr/>
        </p:nvSpPr>
        <p:spPr>
          <a:xfrm>
            <a:off x="5669280" y="1874520"/>
            <a:ext cx="1371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identify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(SQL query)</a:t>
            </a:r>
            <a:endParaRPr lang="en-US" sz="1200" dirty="0"/>
          </a:p>
        </p:txBody>
      </p:sp>
      <p:sp>
        <p:nvSpPr>
          <p:cNvPr id="9" name="Endpoint_contract_38"/>
          <p:cNvSpPr/>
          <p:nvPr/>
        </p:nvSpPr>
        <p:spPr>
          <a:xfrm>
            <a:off x="7223760" y="1874520"/>
            <a:ext cx="137160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(SQL query)</a:t>
            </a:r>
            <a:endParaRPr lang="en-US" sz="1200" dirty="0"/>
          </a:p>
        </p:txBody>
      </p:sp>
      <p:sp>
        <p:nvSpPr>
          <p:cNvPr id="10" name="PostgreSQL_39"/>
          <p:cNvSpPr/>
          <p:nvPr/>
        </p:nvSpPr>
        <p:spPr>
          <a:xfrm>
            <a:off x="9509760" y="1554480"/>
            <a:ext cx="2194560" cy="1417320"/>
          </a:xfrm>
          <a:prstGeom prst="ca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 de prod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Table contrats + index</a:t>
            </a:r>
            <a:endParaRPr lang="en-US" sz="1200" dirty="0"/>
          </a:p>
        </p:txBody>
      </p:sp>
      <p:sp>
        <p:nvSpPr>
          <p:cNvPr id="11" name="Fleche_40"/>
          <p:cNvSpPr/>
          <p:nvPr/>
        </p:nvSpPr>
        <p:spPr>
          <a:xfrm>
            <a:off x="2194560" y="2194560"/>
            <a:ext cx="64008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2" name="Libelle_41"/>
          <p:cNvSpPr txBox="1"/>
          <p:nvPr/>
        </p:nvSpPr>
        <p:spPr>
          <a:xfrm>
            <a:off x="219456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Voix</a:t>
            </a:r>
            <a:endParaRPr lang="en-US" sz="1000" dirty="0"/>
          </a:p>
        </p:txBody>
      </p:sp>
      <p:sp>
        <p:nvSpPr>
          <p:cNvPr id="13" name="Fleche_42"/>
          <p:cNvSpPr/>
          <p:nvPr/>
        </p:nvSpPr>
        <p:spPr>
          <a:xfrm>
            <a:off x="4754880" y="2194560"/>
            <a:ext cx="7315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4" name="Libelle_43"/>
          <p:cNvSpPr txBox="1"/>
          <p:nvPr/>
        </p:nvSpPr>
        <p:spPr>
          <a:xfrm>
            <a:off x="47548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HTTPS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+ clé API</a:t>
            </a:r>
            <a:endParaRPr lang="en-US" sz="900" dirty="0"/>
          </a:p>
        </p:txBody>
      </p:sp>
      <p:sp>
        <p:nvSpPr>
          <p:cNvPr id="15" name="Fleche_44"/>
          <p:cNvSpPr/>
          <p:nvPr/>
        </p:nvSpPr>
        <p:spPr>
          <a:xfrm>
            <a:off x="8778240" y="2194560"/>
            <a:ext cx="7315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headEnd type="triangle"/>
            <a:tailEnd type="triangle"/>
          </a:ln>
        </p:spPr>
      </p:sp>
      <p:sp>
        <p:nvSpPr>
          <p:cNvPr id="16" name="Libelle_45"/>
          <p:cNvSpPr txBox="1"/>
          <p:nvPr/>
        </p:nvSpPr>
        <p:spPr>
          <a:xfrm>
            <a:off x="877824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Lecture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seule</a:t>
            </a:r>
            <a:endParaRPr lang="en-US" sz="900" dirty="0"/>
          </a:p>
        </p:txBody>
      </p:sp>
      <p:sp>
        <p:nvSpPr>
          <p:cNvPr id="17" name="Libelle_46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Alimentation des données (hors heures d'appel)</a:t>
            </a:r>
            <a:endParaRPr lang="en-US" sz="1200" dirty="0"/>
          </a:p>
        </p:txBody>
      </p:sp>
      <p:sp>
        <p:nvSpPr>
          <p:cNvPr id="18" name="COS_47"/>
          <p:cNvSpPr/>
          <p:nvPr/>
        </p:nvSpPr>
        <p:spPr>
          <a:xfrm>
            <a:off x="457200" y="4343400"/>
            <a:ext cx="1737360" cy="1463040"/>
          </a:xfrm>
          <a:prstGeom prst="can">
            <a:avLst/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IBM 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Fichier .csv.gz</a:t>
            </a:r>
            <a:endParaRPr lang="en-US" sz="1200" dirty="0"/>
          </a:p>
        </p:txBody>
      </p:sp>
      <p:sp>
        <p:nvSpPr>
          <p:cNvPr id="19" name="Flow_48"/>
          <p:cNvSpPr/>
          <p:nvPr/>
        </p:nvSpPr>
        <p:spPr>
          <a:xfrm>
            <a:off x="2834640" y="4069080"/>
            <a:ext cx="594360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Libelle_49"/>
          <p:cNvSpPr txBox="1"/>
          <p:nvPr/>
        </p:nvSpPr>
        <p:spPr>
          <a:xfrm>
            <a:off x="2971800" y="41422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Flow Dataiku (production) – scénario planifié</a:t>
            </a:r>
            <a:endParaRPr lang="en-US" sz="1200" dirty="0"/>
          </a:p>
        </p:txBody>
      </p:sp>
      <p:sp>
        <p:nvSpPr>
          <p:cNvPr id="21" name="Etape_flow_50"/>
          <p:cNvSpPr/>
          <p:nvPr/>
        </p:nvSpPr>
        <p:spPr>
          <a:xfrm>
            <a:off x="3017520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Chargement</a:t>
            </a:r>
            <a:endParaRPr lang="en-US" sz="1100" dirty="0"/>
          </a:p>
        </p:txBody>
      </p:sp>
      <p:sp>
        <p:nvSpPr>
          <p:cNvPr id="22" name="Fleche_51"/>
          <p:cNvSpPr/>
          <p:nvPr/>
        </p:nvSpPr>
        <p:spPr>
          <a:xfrm>
            <a:off x="4251960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3" name="Etape_flow_52"/>
          <p:cNvSpPr/>
          <p:nvPr/>
        </p:nvSpPr>
        <p:spPr>
          <a:xfrm>
            <a:off x="4453128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Nettoyage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(pays, identifiant)</a:t>
            </a:r>
            <a:endParaRPr lang="en-US" sz="1100" dirty="0"/>
          </a:p>
        </p:txBody>
      </p:sp>
      <p:sp>
        <p:nvSpPr>
          <p:cNvPr id="24" name="Fleche_53"/>
          <p:cNvSpPr/>
          <p:nvPr/>
        </p:nvSpPr>
        <p:spPr>
          <a:xfrm>
            <a:off x="5687568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5" name="Etape_flow_54"/>
          <p:cNvSpPr/>
          <p:nvPr/>
        </p:nvSpPr>
        <p:spPr>
          <a:xfrm>
            <a:off x="5888736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Contrôles qualité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(bloquants)</a:t>
            </a:r>
            <a:endParaRPr lang="en-US" sz="1100" dirty="0"/>
          </a:p>
        </p:txBody>
      </p:sp>
      <p:sp>
        <p:nvSpPr>
          <p:cNvPr id="26" name="Fleche_55"/>
          <p:cNvSpPr/>
          <p:nvPr/>
        </p:nvSpPr>
        <p:spPr>
          <a:xfrm>
            <a:off x="7123176" y="5166360"/>
            <a:ext cx="201168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7" name="Etape_flow_56"/>
          <p:cNvSpPr/>
          <p:nvPr/>
        </p:nvSpPr>
        <p:spPr>
          <a:xfrm>
            <a:off x="7324344" y="4663440"/>
            <a:ext cx="1234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Écriture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+ index</a:t>
            </a:r>
            <a:endParaRPr lang="en-US" sz="1100" dirty="0"/>
          </a:p>
        </p:txBody>
      </p:sp>
      <p:sp>
        <p:nvSpPr>
          <p:cNvPr id="28" name="Fleche_57"/>
          <p:cNvSpPr/>
          <p:nvPr/>
        </p:nvSpPr>
        <p:spPr>
          <a:xfrm>
            <a:off x="2194560" y="5074920"/>
            <a:ext cx="64008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9" name="Fleche_58"/>
          <p:cNvSpPr/>
          <p:nvPr/>
        </p:nvSpPr>
        <p:spPr>
          <a:xfrm>
            <a:off x="8778240" y="5074920"/>
            <a:ext cx="18288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</a:ln>
        </p:spPr>
      </p:sp>
      <p:sp>
        <p:nvSpPr>
          <p:cNvPr id="30" name="Fleche_59"/>
          <p:cNvSpPr/>
          <p:nvPr/>
        </p:nvSpPr>
        <p:spPr>
          <a:xfrm flipV="1">
            <a:off x="10607040" y="2971800"/>
            <a:ext cx="0" cy="210312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1" name="Libelle_60"/>
          <p:cNvSpPr txBox="1"/>
          <p:nvPr/>
        </p:nvSpPr>
        <p:spPr>
          <a:xfrm>
            <a:off x="107442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Écriture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(utilisateur dédié)</a:t>
            </a:r>
            <a:endParaRPr lang="en-US" sz="900" dirty="0"/>
          </a:p>
        </p:txBody>
      </p:sp>
      <p:sp>
        <p:nvSpPr>
          <p:cNvPr id="32" name="Libelle_61"/>
          <p:cNvSpPr txBox="1"/>
          <p:nvPr/>
        </p:nvSpPr>
        <p:spPr>
          <a:xfrm>
            <a:off x="2834640" y="6126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Alertes en cas d'échec du scénario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Conception de l'API</a:t>
            </a:r>
            <a:endParaRPr lang="en-US" sz="2800" dirty="0"/>
          </a:p>
        </p:txBody>
      </p:sp>
      <p:sp>
        <p:nvSpPr>
          <p:cNvPr id="3" name="Carte_62"/>
          <p:cNvSpPr/>
          <p:nvPr/>
        </p:nvSpPr>
        <p:spPr>
          <a:xfrm>
            <a:off x="457200" y="1188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Endpoint_63"/>
          <p:cNvSpPr/>
          <p:nvPr/>
        </p:nvSpPr>
        <p:spPr>
          <a:xfrm>
            <a:off x="685800" y="137160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identify</a:t>
            </a:r>
            <a:endParaRPr lang="en-US" sz="1600" dirty="0"/>
          </a:p>
        </p:txBody>
      </p:sp>
      <p:sp>
        <p:nvSpPr>
          <p:cNvPr id="5" name="Libelle_64"/>
          <p:cNvSpPr txBox="1"/>
          <p:nvPr/>
        </p:nvSpPr>
        <p:spPr>
          <a:xfrm>
            <a:off x="2468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Endpoint SQL query</a:t>
            </a:r>
            <a:endParaRPr lang="en-US" sz="1200" dirty="0"/>
          </a:p>
        </p:txBody>
      </p:sp>
      <p:sp>
        <p:nvSpPr>
          <p:cNvPr id="6" name="Libelle_65"/>
          <p:cNvSpPr txBox="1"/>
          <p:nvPr/>
        </p:nvSpPr>
        <p:spPr>
          <a:xfrm>
            <a:off x="685800" y="20574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Entrée</a:t>
            </a:r>
            <a:endParaRPr lang="en-US" sz="1300" dirty="0"/>
          </a:p>
        </p:txBody>
      </p:sp>
      <p:sp>
        <p:nvSpPr>
          <p:cNvPr id="7" name="Libelle_66"/>
          <p:cNvSpPr txBox="1"/>
          <p:nvPr/>
        </p:nvSpPr>
        <p:spPr>
          <a:xfrm>
            <a:off x="1737360" y="2057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pays, identifiant (SIREN ou code UK)</a:t>
            </a:r>
            <a:endParaRPr lang="en-US" sz="1300" dirty="0"/>
          </a:p>
        </p:txBody>
      </p:sp>
      <p:sp>
        <p:nvSpPr>
          <p:cNvPr id="8" name="Libelle_67"/>
          <p:cNvSpPr txBox="1"/>
          <p:nvPr/>
        </p:nvSpPr>
        <p:spPr>
          <a:xfrm>
            <a:off x="685800" y="2834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Sortie</a:t>
            </a:r>
            <a:endParaRPr lang="en-US" sz="1300" dirty="0"/>
          </a:p>
        </p:txBody>
      </p:sp>
      <p:sp>
        <p:nvSpPr>
          <p:cNvPr id="9" name="Libelle_68"/>
          <p:cNvSpPr txBox="1"/>
          <p:nvPr/>
        </p:nvSpPr>
        <p:spPr>
          <a:xfrm>
            <a:off x="1737360" y="28346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désignation + nombre de désignations différentes</a:t>
            </a:r>
            <a:endParaRPr lang="en-US" sz="1300" dirty="0"/>
          </a:p>
        </p:txBody>
      </p:sp>
      <p:sp>
        <p:nvSpPr>
          <p:cNvPr id="10" name="Libelle_69"/>
          <p:cNvSpPr txBox="1"/>
          <p:nvPr/>
        </p:nvSpPr>
        <p:spPr>
          <a:xfrm>
            <a:off x="685800" y="3611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Règle</a:t>
            </a:r>
            <a:endParaRPr lang="en-US" sz="1300" dirty="0"/>
          </a:p>
        </p:txBody>
      </p:sp>
      <p:sp>
        <p:nvSpPr>
          <p:cNvPr id="11" name="Libelle_70"/>
          <p:cNvSpPr txBox="1"/>
          <p:nvPr/>
        </p:nvSpPr>
        <p:spPr>
          <a:xfrm>
            <a:off x="1737360" y="3611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 plus d'une désignation : donnée incohérente, le chatbot met fin à l'identification</a:t>
            </a:r>
            <a:endParaRPr lang="en-US" sz="1300" dirty="0"/>
          </a:p>
        </p:txBody>
      </p:sp>
      <p:sp>
        <p:nvSpPr>
          <p:cNvPr id="12" name="Carte_71"/>
          <p:cNvSpPr/>
          <p:nvPr/>
        </p:nvSpPr>
        <p:spPr>
          <a:xfrm>
            <a:off x="6172200" y="1188720"/>
            <a:ext cx="54406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Endpoint_72"/>
          <p:cNvSpPr/>
          <p:nvPr/>
        </p:nvSpPr>
        <p:spPr>
          <a:xfrm>
            <a:off x="6400800" y="137160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contract</a:t>
            </a:r>
            <a:endParaRPr lang="en-US" sz="1600" dirty="0"/>
          </a:p>
        </p:txBody>
      </p:sp>
      <p:sp>
        <p:nvSpPr>
          <p:cNvPr id="14" name="Libelle_73"/>
          <p:cNvSpPr txBox="1"/>
          <p:nvPr/>
        </p:nvSpPr>
        <p:spPr>
          <a:xfrm>
            <a:off x="81838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Endpoint SQL query</a:t>
            </a:r>
            <a:endParaRPr lang="en-US" sz="1200" dirty="0"/>
          </a:p>
        </p:txBody>
      </p:sp>
      <p:sp>
        <p:nvSpPr>
          <p:cNvPr id="15" name="Libelle_74"/>
          <p:cNvSpPr txBox="1"/>
          <p:nvPr/>
        </p:nvSpPr>
        <p:spPr>
          <a:xfrm>
            <a:off x="6400800" y="205740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Entrée</a:t>
            </a:r>
            <a:endParaRPr lang="en-US" sz="1300" dirty="0"/>
          </a:p>
        </p:txBody>
      </p:sp>
      <p:sp>
        <p:nvSpPr>
          <p:cNvPr id="16" name="Libelle_75"/>
          <p:cNvSpPr txBox="1"/>
          <p:nvPr/>
        </p:nvSpPr>
        <p:spPr>
          <a:xfrm>
            <a:off x="7452360" y="20574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pays, identifiant, n° de contrat</a:t>
            </a:r>
            <a:endParaRPr lang="en-US" sz="1300" dirty="0"/>
          </a:p>
        </p:txBody>
      </p:sp>
      <p:sp>
        <p:nvSpPr>
          <p:cNvPr id="17" name="Libelle_76"/>
          <p:cNvSpPr txBox="1"/>
          <p:nvPr/>
        </p:nvSpPr>
        <p:spPr>
          <a:xfrm>
            <a:off x="6400800" y="283464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Sortie</a:t>
            </a:r>
            <a:endParaRPr lang="en-US" sz="1300" dirty="0"/>
          </a:p>
        </p:txBody>
      </p:sp>
      <p:sp>
        <p:nvSpPr>
          <p:cNvPr id="18" name="Libelle_77"/>
          <p:cNvSpPr txBox="1"/>
          <p:nvPr/>
        </p:nvSpPr>
        <p:spPr>
          <a:xfrm>
            <a:off x="7452360" y="283464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toutes les colonnes de la ligne du contrat (dont statut)</a:t>
            </a:r>
            <a:endParaRPr lang="en-US" sz="1300" dirty="0"/>
          </a:p>
        </p:txBody>
      </p:sp>
      <p:sp>
        <p:nvSpPr>
          <p:cNvPr id="19" name="Libelle_78"/>
          <p:cNvSpPr txBox="1"/>
          <p:nvPr/>
        </p:nvSpPr>
        <p:spPr>
          <a:xfrm>
            <a:off x="6400800" y="3611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Règle</a:t>
            </a:r>
            <a:endParaRPr lang="en-US" sz="1300" dirty="0"/>
          </a:p>
        </p:txBody>
      </p:sp>
      <p:sp>
        <p:nvSpPr>
          <p:cNvPr id="20" name="Libelle_79"/>
          <p:cNvSpPr txBox="1"/>
          <p:nvPr/>
        </p:nvSpPr>
        <p:spPr>
          <a:xfrm>
            <a:off x="7452360" y="361188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 inexistant ou d'un autre client : même réponse vide, aucune fuite</a:t>
            </a:r>
            <a:endParaRPr lang="en-US" sz="1300" dirty="0"/>
          </a:p>
        </p:txBody>
      </p:sp>
      <p:sp>
        <p:nvSpPr>
          <p:cNvPr id="21" name="Principes_80"/>
          <p:cNvSpPr/>
          <p:nvPr/>
        </p:nvSpPr>
        <p:spPr>
          <a:xfrm>
            <a:off x="457200" y="4663440"/>
            <a:ext cx="11155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Libelle_81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Principes communs</a:t>
            </a:r>
            <a:endParaRPr lang="en-US" sz="1400" dirty="0"/>
          </a:p>
        </p:txBody>
      </p:sp>
      <p:sp>
        <p:nvSpPr>
          <p:cNvPr id="23" name="Texte_82"/>
          <p:cNvSpPr txBox="1"/>
          <p:nvPr/>
        </p:nvSpPr>
        <p:spPr>
          <a:xfrm>
            <a:off x="73152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API sans état : le chatbot garde l'identifiant et le renvoie à chaque appel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Requêtes paramétrées ; accès PostgreSQL en lecture seule ; pool de connexions réglable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Authentification par clé API (à confirmer dans la documentation Dataiku 13.2)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Conception des données</a:t>
            </a:r>
            <a:endParaRPr lang="en-US" sz="2800" dirty="0"/>
          </a:p>
        </p:txBody>
      </p:sp>
      <p:sp>
        <p:nvSpPr>
          <p:cNvPr id="3" name="Libelle_83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 contrats (PostgreSQL de prod)</a:t>
            </a:r>
            <a:endParaRPr lang="en-US" sz="1600" dirty="0"/>
          </a:p>
        </p:txBody>
      </p:sp>
      <p:graphicFrame>
        <p:nvGraphicFramePr>
          <p:cNvPr id="8" name="Tableau_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Colonne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pays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Ajoutée : FR ou UK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identifiant_nettoye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Ajoutée : majuscules, sans espaces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identifiant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SIREN ou code UK d'origine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Nom à confirmer par le client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numero_contrat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Clé du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statut, dates…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Informations du contrat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autres colonnes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Réponses aux questions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te_85"/>
          <p:cNvSpPr/>
          <p:nvPr/>
        </p:nvSpPr>
        <p:spPr>
          <a:xfrm>
            <a:off x="6583680" y="109728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belle_86"/>
          <p:cNvSpPr txBox="1"/>
          <p:nvPr/>
        </p:nvSpPr>
        <p:spPr>
          <a:xfrm>
            <a:off x="6812280" y="1188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Index</a:t>
            </a:r>
            <a:endParaRPr lang="en-US" sz="1400" dirty="0"/>
          </a:p>
        </p:txBody>
      </p:sp>
      <p:sp>
        <p:nvSpPr>
          <p:cNvPr id="7" name="Libelle_87"/>
          <p:cNvSpPr txBox="1"/>
          <p:nvPr/>
        </p:nvSpPr>
        <p:spPr>
          <a:xfrm>
            <a:off x="6812280" y="15087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sur (pays, identifiant, n° contrat) et simple sur (pays, identifiant) : réponses rapides</a:t>
            </a:r>
            <a:endParaRPr lang="en-US" sz="1200" dirty="0"/>
          </a:p>
        </p:txBody>
      </p:sp>
      <p:sp>
        <p:nvSpPr>
          <p:cNvPr id="8" name="Carte_88"/>
          <p:cNvSpPr/>
          <p:nvPr/>
        </p:nvSpPr>
        <p:spPr>
          <a:xfrm>
            <a:off x="6583680" y="237744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belle_89"/>
          <p:cNvSpPr txBox="1"/>
          <p:nvPr/>
        </p:nvSpPr>
        <p:spPr>
          <a:xfrm>
            <a:off x="6812280" y="2468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Mise à jour</a:t>
            </a:r>
            <a:endParaRPr lang="en-US" sz="1400" dirty="0"/>
          </a:p>
        </p:txBody>
      </p:sp>
      <p:sp>
        <p:nvSpPr>
          <p:cNvPr id="10" name="Libelle_90"/>
          <p:cNvSpPr txBox="1"/>
          <p:nvPr/>
        </p:nvSpPr>
        <p:spPr>
          <a:xfrm>
            <a:off x="6812280" y="2788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Scénario planifié hors heures d'appel, une seule table</a:t>
            </a:r>
            <a:endParaRPr lang="en-US" sz="1200" dirty="0"/>
          </a:p>
        </p:txBody>
      </p:sp>
      <p:sp>
        <p:nvSpPr>
          <p:cNvPr id="11" name="Carte_91"/>
          <p:cNvSpPr/>
          <p:nvPr/>
        </p:nvSpPr>
        <p:spPr>
          <a:xfrm>
            <a:off x="6583680" y="365760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ibelle_92"/>
          <p:cNvSpPr txBox="1"/>
          <p:nvPr/>
        </p:nvSpPr>
        <p:spPr>
          <a:xfrm>
            <a:off x="681228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Contrôles qualité</a:t>
            </a:r>
            <a:endParaRPr lang="en-US" sz="1400" dirty="0"/>
          </a:p>
        </p:txBody>
      </p:sp>
      <p:sp>
        <p:nvSpPr>
          <p:cNvPr id="13" name="Libelle_93"/>
          <p:cNvSpPr txBox="1"/>
          <p:nvPr/>
        </p:nvSpPr>
        <p:spPr>
          <a:xfrm>
            <a:off x="6812280" y="4069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Schéma, volumétrie, doublons, valeurs vides, désignations incohérentes : mise à jour bloquée si échec</a:t>
            </a:r>
            <a:endParaRPr lang="en-US" sz="1200" dirty="0"/>
          </a:p>
        </p:txBody>
      </p:sp>
      <p:sp>
        <p:nvSpPr>
          <p:cNvPr id="14" name="Carte_94"/>
          <p:cNvSpPr/>
          <p:nvPr/>
        </p:nvSpPr>
        <p:spPr>
          <a:xfrm>
            <a:off x="6583680" y="4937760"/>
            <a:ext cx="5120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ibelle_95"/>
          <p:cNvSpPr txBox="1"/>
          <p:nvPr/>
        </p:nvSpPr>
        <p:spPr>
          <a:xfrm>
            <a:off x="6812280" y="5029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Accès</a:t>
            </a:r>
            <a:endParaRPr lang="en-US" sz="1400" dirty="0"/>
          </a:p>
        </p:txBody>
      </p:sp>
      <p:sp>
        <p:nvSpPr>
          <p:cNvPr id="16" name="Libelle_96"/>
          <p:cNvSpPr txBox="1"/>
          <p:nvPr/>
        </p:nvSpPr>
        <p:spPr>
          <a:xfrm>
            <a:off x="6812280" y="5349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Utilisateur lecture seule pour l'API, utilisateur d'écriture pour le flow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Flow final : client, chatbot et API</a:t>
            </a:r>
            <a:endParaRPr lang="en-US" sz="2800" dirty="0"/>
          </a:p>
        </p:txBody>
      </p:sp>
      <p:sp>
        <p:nvSpPr>
          <p:cNvPr id="3" name="Legende_97"/>
          <p:cNvSpPr/>
          <p:nvPr/>
        </p:nvSpPr>
        <p:spPr>
          <a:xfrm>
            <a:off x="576072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4" name="Libelle_98"/>
          <p:cNvSpPr txBox="1"/>
          <p:nvPr/>
        </p:nvSpPr>
        <p:spPr>
          <a:xfrm>
            <a:off x="610819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Étape chatbot</a:t>
            </a:r>
            <a:endParaRPr lang="en-US" sz="900" dirty="0"/>
          </a:p>
        </p:txBody>
      </p:sp>
      <p:sp>
        <p:nvSpPr>
          <p:cNvPr id="5" name="Legende_99"/>
          <p:cNvSpPr/>
          <p:nvPr/>
        </p:nvSpPr>
        <p:spPr>
          <a:xfrm>
            <a:off x="726948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6" name="Libelle_100"/>
          <p:cNvSpPr txBox="1"/>
          <p:nvPr/>
        </p:nvSpPr>
        <p:spPr>
          <a:xfrm>
            <a:off x="761695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Appel API</a:t>
            </a:r>
            <a:endParaRPr lang="en-US" sz="900" dirty="0"/>
          </a:p>
        </p:txBody>
      </p:sp>
      <p:sp>
        <p:nvSpPr>
          <p:cNvPr id="7" name="Legende_101"/>
          <p:cNvSpPr/>
          <p:nvPr/>
        </p:nvSpPr>
        <p:spPr>
          <a:xfrm>
            <a:off x="877824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rgbClr val="00855F"/>
            </a:solidFill>
            <a:prstDash val="solid"/>
          </a:ln>
        </p:spPr>
      </p:sp>
      <p:sp>
        <p:nvSpPr>
          <p:cNvPr id="8" name="Libelle_102"/>
          <p:cNvSpPr txBox="1"/>
          <p:nvPr/>
        </p:nvSpPr>
        <p:spPr>
          <a:xfrm>
            <a:off x="912571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Décision</a:t>
            </a:r>
            <a:endParaRPr lang="en-US" sz="900" dirty="0"/>
          </a:p>
        </p:txBody>
      </p:sp>
      <p:sp>
        <p:nvSpPr>
          <p:cNvPr id="9" name="Legende_103"/>
          <p:cNvSpPr/>
          <p:nvPr/>
        </p:nvSpPr>
        <p:spPr>
          <a:xfrm>
            <a:off x="10287000" y="914400"/>
            <a:ext cx="274320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rgbClr val="5F6B66"/>
            </a:solidFill>
            <a:prstDash val="solid"/>
          </a:ln>
        </p:spPr>
      </p:sp>
      <p:sp>
        <p:nvSpPr>
          <p:cNvPr id="10" name="Libelle_104"/>
          <p:cNvSpPr txBox="1"/>
          <p:nvPr/>
        </p:nvSpPr>
        <p:spPr>
          <a:xfrm>
            <a:off x="10634472" y="886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Échec / repli</a:t>
            </a:r>
            <a:endParaRPr lang="en-US" sz="900" dirty="0"/>
          </a:p>
        </p:txBody>
      </p:sp>
      <p:sp>
        <p:nvSpPr>
          <p:cNvPr id="11" name="Debut_105"/>
          <p:cNvSpPr/>
          <p:nvPr/>
        </p:nvSpPr>
        <p:spPr>
          <a:xfrm>
            <a:off x="365760" y="1508760"/>
            <a:ext cx="868680" cy="548640"/>
          </a:xfrm>
          <a:prstGeom prst="flowChartTerminator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Appel entrant</a:t>
            </a:r>
            <a:endParaRPr lang="en-US" sz="1000" dirty="0"/>
          </a:p>
        </p:txBody>
      </p:sp>
      <p:sp>
        <p:nvSpPr>
          <p:cNvPr id="12" name="Etape_106"/>
          <p:cNvSpPr/>
          <p:nvPr/>
        </p:nvSpPr>
        <p:spPr>
          <a:xfrm>
            <a:off x="1463040" y="1417320"/>
            <a:ext cx="160020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1. Pays : déduit du n° appelé, sinon demandé</a:t>
            </a:r>
            <a:endParaRPr lang="en-US" sz="1000" dirty="0"/>
          </a:p>
        </p:txBody>
      </p:sp>
      <p:sp>
        <p:nvSpPr>
          <p:cNvPr id="13" name="Etape_107"/>
          <p:cNvSpPr/>
          <p:nvPr/>
        </p:nvSpPr>
        <p:spPr>
          <a:xfrm>
            <a:off x="3291840" y="1417320"/>
            <a:ext cx="16916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2. Demander l'identifiant (retenir un n° de contrat déjà donné)</a:t>
            </a:r>
            <a:endParaRPr lang="en-US" sz="1000" dirty="0"/>
          </a:p>
        </p:txBody>
      </p:sp>
      <p:sp>
        <p:nvSpPr>
          <p:cNvPr id="14" name="Decision_108"/>
          <p:cNvSpPr/>
          <p:nvPr/>
        </p:nvSpPr>
        <p:spPr>
          <a:xfrm>
            <a:off x="5212080" y="1280160"/>
            <a:ext cx="146304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3. Format valide ?</a:t>
            </a:r>
            <a:endParaRPr lang="en-US" sz="1000" dirty="0"/>
          </a:p>
        </p:txBody>
      </p:sp>
      <p:sp>
        <p:nvSpPr>
          <p:cNvPr id="15" name="Appel_API_109"/>
          <p:cNvSpPr/>
          <p:nvPr/>
        </p:nvSpPr>
        <p:spPr>
          <a:xfrm>
            <a:off x="6903720" y="1417320"/>
            <a:ext cx="141732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4. API identify</a:t>
            </a:r>
            <a:endParaRPr lang="en-US" sz="1100" dirty="0"/>
          </a:p>
        </p:txBody>
      </p:sp>
      <p:sp>
        <p:nvSpPr>
          <p:cNvPr id="16" name="Decision_110"/>
          <p:cNvSpPr/>
          <p:nvPr/>
        </p:nvSpPr>
        <p:spPr>
          <a:xfrm>
            <a:off x="8549640" y="128016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5. Client trouvé, désignation unique ?</a:t>
            </a:r>
            <a:endParaRPr lang="en-US" sz="1000" dirty="0"/>
          </a:p>
        </p:txBody>
      </p:sp>
      <p:sp>
        <p:nvSpPr>
          <p:cNvPr id="17" name="Echec_111"/>
          <p:cNvSpPr/>
          <p:nvPr/>
        </p:nvSpPr>
        <p:spPr>
          <a:xfrm>
            <a:off x="10515600" y="1280160"/>
            <a:ext cx="1325880" cy="100584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Non : relire et redemander (3 essais max) puis Fin A. Plusieurs désignations : Fin A</a:t>
            </a:r>
            <a:endParaRPr lang="en-US" sz="900" dirty="0"/>
          </a:p>
        </p:txBody>
      </p:sp>
      <p:sp>
        <p:nvSpPr>
          <p:cNvPr id="18" name="Fleche_112"/>
          <p:cNvSpPr/>
          <p:nvPr/>
        </p:nvSpPr>
        <p:spPr>
          <a:xfrm>
            <a:off x="12344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19" name="Fleche_113"/>
          <p:cNvSpPr/>
          <p:nvPr/>
        </p:nvSpPr>
        <p:spPr>
          <a:xfrm>
            <a:off x="30632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0" name="Fleche_114"/>
          <p:cNvSpPr/>
          <p:nvPr/>
        </p:nvSpPr>
        <p:spPr>
          <a:xfrm>
            <a:off x="498348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1" name="Fleche_115"/>
          <p:cNvSpPr/>
          <p:nvPr/>
        </p:nvSpPr>
        <p:spPr>
          <a:xfrm>
            <a:off x="667512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2" name="Libelle_116"/>
          <p:cNvSpPr txBox="1"/>
          <p:nvPr/>
        </p:nvSpPr>
        <p:spPr>
          <a:xfrm>
            <a:off x="6665976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23" name="Fleche_117"/>
          <p:cNvSpPr/>
          <p:nvPr/>
        </p:nvSpPr>
        <p:spPr>
          <a:xfrm>
            <a:off x="832104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4" name="Fleche_118"/>
          <p:cNvSpPr/>
          <p:nvPr/>
        </p:nvSpPr>
        <p:spPr>
          <a:xfrm>
            <a:off x="10287000" y="178308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5" name="Libelle_119"/>
          <p:cNvSpPr txBox="1"/>
          <p:nvPr/>
        </p:nvSpPr>
        <p:spPr>
          <a:xfrm>
            <a:off x="10241280" y="1508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26" name="Fleche_120"/>
          <p:cNvSpPr/>
          <p:nvPr/>
        </p:nvSpPr>
        <p:spPr>
          <a:xfrm>
            <a:off x="5943600" y="2286000"/>
            <a:ext cx="0" cy="155448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27" name="Libelle_121"/>
          <p:cNvSpPr txBox="1"/>
          <p:nvPr/>
        </p:nvSpPr>
        <p:spPr>
          <a:xfrm>
            <a:off x="6016752" y="22677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28" name="Echec_122"/>
          <p:cNvSpPr/>
          <p:nvPr/>
        </p:nvSpPr>
        <p:spPr>
          <a:xfrm>
            <a:off x="5074920" y="2441448"/>
            <a:ext cx="173736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Relire et redemander (3 essais max) puis Fin A</a:t>
            </a:r>
            <a:endParaRPr lang="en-US" sz="900" dirty="0"/>
          </a:p>
        </p:txBody>
      </p:sp>
      <p:sp>
        <p:nvSpPr>
          <p:cNvPr id="29" name="Fleche_123"/>
          <p:cNvSpPr/>
          <p:nvPr/>
        </p:nvSpPr>
        <p:spPr>
          <a:xfrm>
            <a:off x="9418320" y="2286000"/>
            <a:ext cx="0" cy="73152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0" name="Libelle_124"/>
          <p:cNvSpPr txBox="1"/>
          <p:nvPr/>
        </p:nvSpPr>
        <p:spPr>
          <a:xfrm>
            <a:off x="9491472" y="25603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31" name="Decision_125"/>
          <p:cNvSpPr/>
          <p:nvPr/>
        </p:nvSpPr>
        <p:spPr>
          <a:xfrm>
            <a:off x="8549640" y="301752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6. Nom de société correct ?</a:t>
            </a:r>
            <a:endParaRPr lang="en-US" sz="1000" dirty="0"/>
          </a:p>
        </p:txBody>
      </p:sp>
      <p:sp>
        <p:nvSpPr>
          <p:cNvPr id="32" name="Echec_126"/>
          <p:cNvSpPr/>
          <p:nvPr/>
        </p:nvSpPr>
        <p:spPr>
          <a:xfrm>
            <a:off x="10515600" y="315468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Non : 3 essais max puis Fin A</a:t>
            </a:r>
            <a:endParaRPr lang="en-US" sz="900" dirty="0"/>
          </a:p>
        </p:txBody>
      </p:sp>
      <p:sp>
        <p:nvSpPr>
          <p:cNvPr id="33" name="Fleche_127"/>
          <p:cNvSpPr/>
          <p:nvPr/>
        </p:nvSpPr>
        <p:spPr>
          <a:xfrm>
            <a:off x="10287000" y="352044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4" name="Libelle_128"/>
          <p:cNvSpPr txBox="1"/>
          <p:nvPr/>
        </p:nvSpPr>
        <p:spPr>
          <a:xfrm>
            <a:off x="10241280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35" name="Etape_129"/>
          <p:cNvSpPr/>
          <p:nvPr/>
        </p:nvSpPr>
        <p:spPr>
          <a:xfrm>
            <a:off x="6903720" y="3154680"/>
            <a:ext cx="141732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7. Demander le n° de contrat (si pas déjà donné)</a:t>
            </a:r>
            <a:endParaRPr lang="en-US" sz="1000" dirty="0"/>
          </a:p>
        </p:txBody>
      </p:sp>
      <p:sp>
        <p:nvSpPr>
          <p:cNvPr id="36" name="Fleche_130"/>
          <p:cNvSpPr/>
          <p:nvPr/>
        </p:nvSpPr>
        <p:spPr>
          <a:xfrm flipH="1">
            <a:off x="8321040" y="3520440"/>
            <a:ext cx="22860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37" name="Libelle_131"/>
          <p:cNvSpPr txBox="1"/>
          <p:nvPr/>
        </p:nvSpPr>
        <p:spPr>
          <a:xfrm>
            <a:off x="8339328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38" name="Appel_API_132"/>
          <p:cNvSpPr/>
          <p:nvPr/>
        </p:nvSpPr>
        <p:spPr>
          <a:xfrm>
            <a:off x="5166360" y="315468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8. API contract</a:t>
            </a:r>
            <a:endParaRPr lang="en-US" sz="1100" dirty="0"/>
          </a:p>
        </p:txBody>
      </p:sp>
      <p:sp>
        <p:nvSpPr>
          <p:cNvPr id="39" name="Fleche_133"/>
          <p:cNvSpPr/>
          <p:nvPr/>
        </p:nvSpPr>
        <p:spPr>
          <a:xfrm flipH="1">
            <a:off x="6629400" y="3520440"/>
            <a:ext cx="2743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0" name="Decision_134"/>
          <p:cNvSpPr/>
          <p:nvPr/>
        </p:nvSpPr>
        <p:spPr>
          <a:xfrm>
            <a:off x="3154680" y="301752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9. Contrat trouvé ?</a:t>
            </a:r>
            <a:endParaRPr lang="en-US" sz="1000" dirty="0"/>
          </a:p>
        </p:txBody>
      </p:sp>
      <p:sp>
        <p:nvSpPr>
          <p:cNvPr id="41" name="Fleche_135"/>
          <p:cNvSpPr/>
          <p:nvPr/>
        </p:nvSpPr>
        <p:spPr>
          <a:xfrm flipH="1">
            <a:off x="4892040" y="3520440"/>
            <a:ext cx="27432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2" name="Etape_136"/>
          <p:cNvSpPr/>
          <p:nvPr/>
        </p:nvSpPr>
        <p:spPr>
          <a:xfrm>
            <a:off x="365760" y="315468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 Annoncer le statut, répondre aux questions depuis la ligne en mémoire</a:t>
            </a:r>
            <a:endParaRPr lang="en-US" sz="1000" dirty="0"/>
          </a:p>
        </p:txBody>
      </p:sp>
      <p:sp>
        <p:nvSpPr>
          <p:cNvPr id="43" name="Fleche_137"/>
          <p:cNvSpPr/>
          <p:nvPr/>
        </p:nvSpPr>
        <p:spPr>
          <a:xfrm flipH="1">
            <a:off x="2834640" y="3520440"/>
            <a:ext cx="32004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4" name="Libelle_138"/>
          <p:cNvSpPr txBox="1"/>
          <p:nvPr/>
        </p:nvSpPr>
        <p:spPr>
          <a:xfrm>
            <a:off x="2862072" y="32461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</a:t>
            </a:r>
            <a:endParaRPr lang="en-US" sz="900" dirty="0"/>
          </a:p>
        </p:txBody>
      </p:sp>
      <p:sp>
        <p:nvSpPr>
          <p:cNvPr id="45" name="Fleche_139"/>
          <p:cNvSpPr/>
          <p:nvPr/>
        </p:nvSpPr>
        <p:spPr>
          <a:xfrm>
            <a:off x="4023360" y="4023360"/>
            <a:ext cx="0" cy="155448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6" name="Libelle_140"/>
          <p:cNvSpPr txBox="1"/>
          <p:nvPr/>
        </p:nvSpPr>
        <p:spPr>
          <a:xfrm>
            <a:off x="4096512" y="4005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47" name="Echec_141"/>
          <p:cNvSpPr/>
          <p:nvPr/>
        </p:nvSpPr>
        <p:spPr>
          <a:xfrm>
            <a:off x="3017520" y="4178808"/>
            <a:ext cx="2011680" cy="685800"/>
          </a:xfrm>
          <a:prstGeom prst="roundRect">
            <a:avLst>
              <a:gd name="adj" fmla="val 10667"/>
            </a:avLst>
          </a:prstGeom>
          <a:solidFill>
            <a:schemeClr val="accent6"/>
          </a:solidFill>
          <a:ln w="9525">
            <a:solidFill>
              <a:schemeClr val="accent3"/>
            </a:solidFill>
          </a:ln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« Je ne trouve pas ce contrat sur votre compte », relecture, 3 essais max, puis étape 11</a:t>
            </a:r>
            <a:endParaRPr lang="en-US" sz="900" dirty="0"/>
          </a:p>
        </p:txBody>
      </p:sp>
      <p:sp>
        <p:nvSpPr>
          <p:cNvPr id="48" name="Fleche_142"/>
          <p:cNvSpPr/>
          <p:nvPr/>
        </p:nvSpPr>
        <p:spPr>
          <a:xfrm>
            <a:off x="1600200" y="3886200"/>
            <a:ext cx="0" cy="77724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49" name="Decision_143"/>
          <p:cNvSpPr/>
          <p:nvPr/>
        </p:nvSpPr>
        <p:spPr>
          <a:xfrm>
            <a:off x="731520" y="4663440"/>
            <a:ext cx="1737360" cy="1005840"/>
          </a:xfrm>
          <a:prstGeom prst="diamond">
            <a:avLst/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11. Autre contrat ?</a:t>
            </a:r>
            <a:endParaRPr lang="en-US" sz="1000" dirty="0"/>
          </a:p>
        </p:txBody>
      </p:sp>
      <p:sp>
        <p:nvSpPr>
          <p:cNvPr id="50" name="Fleche_144"/>
          <p:cNvSpPr/>
          <p:nvPr/>
        </p:nvSpPr>
        <p:spPr>
          <a:xfrm>
            <a:off x="2468880" y="5166360"/>
            <a:ext cx="5120640" cy="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</a:ln>
        </p:spPr>
      </p:sp>
      <p:sp>
        <p:nvSpPr>
          <p:cNvPr id="51" name="Fleche_145"/>
          <p:cNvSpPr/>
          <p:nvPr/>
        </p:nvSpPr>
        <p:spPr>
          <a:xfrm flipV="1">
            <a:off x="7589520" y="3886200"/>
            <a:ext cx="0" cy="128016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52" name="Libelle_146"/>
          <p:cNvSpPr txBox="1"/>
          <p:nvPr/>
        </p:nvSpPr>
        <p:spPr>
          <a:xfrm>
            <a:off x="5257800" y="489204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Oui : sans refaire l'identification</a:t>
            </a:r>
            <a:endParaRPr lang="en-US" sz="900" dirty="0"/>
          </a:p>
        </p:txBody>
      </p:sp>
      <p:sp>
        <p:nvSpPr>
          <p:cNvPr id="53" name="Fleche_147"/>
          <p:cNvSpPr/>
          <p:nvPr/>
        </p:nvSpPr>
        <p:spPr>
          <a:xfrm>
            <a:off x="1600200" y="5669280"/>
            <a:ext cx="0" cy="182880"/>
          </a:xfrm>
          <a:prstGeom prst="line">
            <a:avLst/>
          </a:prstGeom>
          <a:noFill/>
          <a:ln w="19050">
            <a:solidFill>
              <a:srgbClr val="5F6B66"/>
            </a:solidFill>
            <a:prstDash val="solid"/>
            <a:tailEnd type="triangle"/>
          </a:ln>
        </p:spPr>
      </p:sp>
      <p:sp>
        <p:nvSpPr>
          <p:cNvPr id="54" name="Libelle_148"/>
          <p:cNvSpPr txBox="1"/>
          <p:nvPr/>
        </p:nvSpPr>
        <p:spPr>
          <a:xfrm>
            <a:off x="1691640" y="564184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Non</a:t>
            </a:r>
            <a:endParaRPr lang="en-US" sz="900" dirty="0"/>
          </a:p>
        </p:txBody>
      </p:sp>
      <p:sp>
        <p:nvSpPr>
          <p:cNvPr id="55" name="Fin_149"/>
          <p:cNvSpPr/>
          <p:nvPr/>
        </p:nvSpPr>
        <p:spPr>
          <a:xfrm>
            <a:off x="1051560" y="5852160"/>
            <a:ext cx="1097280" cy="411480"/>
          </a:xfrm>
          <a:prstGeom prst="flowChartTerminator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12. Clôture</a:t>
            </a:r>
            <a:endParaRPr lang="en-US" sz="1000" dirty="0"/>
          </a:p>
        </p:txBody>
      </p:sp>
      <p:sp>
        <p:nvSpPr>
          <p:cNvPr id="56" name="Messages_fin_150"/>
          <p:cNvSpPr/>
          <p:nvPr/>
        </p:nvSpPr>
        <p:spPr>
          <a:xfrm>
            <a:off x="8138160" y="4343400"/>
            <a:ext cx="370332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7" name="Texte_151"/>
          <p:cNvSpPr txBox="1"/>
          <p:nvPr/>
        </p:nvSpPr>
        <p:spPr>
          <a:xfrm>
            <a:off x="8275320" y="4434840"/>
            <a:ext cx="3429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>Messages de fin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Fin A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« Je ne parviens pas à vous identifier » + canal à définir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Fin B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« Service momentanément indisponible, merci de rappeler plus tard 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chemeClr val="tx1"/>
                </a:solidFill>
              </a:rPr>
              <a:t>À toute étape : 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erreur ou lenteur de l'API → 1 nouvel essai automatique, puis Fin 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Règles d'expérience utilisateur</a:t>
            </a:r>
            <a:endParaRPr lang="en-US" sz="2800" dirty="0"/>
          </a:p>
        </p:txBody>
      </p:sp>
      <p:sp>
        <p:nvSpPr>
          <p:cNvPr id="3" name="Regle_152"/>
          <p:cNvSpPr/>
          <p:nvPr/>
        </p:nvSpPr>
        <p:spPr>
          <a:xfrm>
            <a:off x="457200" y="118872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ero_153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ibelle_154"/>
          <p:cNvSpPr txBox="1"/>
          <p:nvPr/>
        </p:nvSpPr>
        <p:spPr>
          <a:xfrm>
            <a:off x="1371600" y="1298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Moins d'échanges</a:t>
            </a:r>
            <a:endParaRPr lang="en-US" sz="1400" dirty="0"/>
          </a:p>
        </p:txBody>
      </p:sp>
      <p:sp>
        <p:nvSpPr>
          <p:cNvPr id="6" name="Libelle_155"/>
          <p:cNvSpPr txBox="1"/>
          <p:nvPr/>
        </p:nvSpPr>
        <p:spPr>
          <a:xfrm>
            <a:off x="1371600" y="1627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Pays déduit du numéro appelé ; informations données en avance retenues</a:t>
            </a:r>
            <a:endParaRPr lang="en-US" sz="1200" dirty="0"/>
          </a:p>
        </p:txBody>
      </p:sp>
      <p:sp>
        <p:nvSpPr>
          <p:cNvPr id="7" name="Regle_156"/>
          <p:cNvSpPr/>
          <p:nvPr/>
        </p:nvSpPr>
        <p:spPr>
          <a:xfrm>
            <a:off x="6126480" y="118872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ero_157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ibelle_158"/>
          <p:cNvSpPr txBox="1"/>
          <p:nvPr/>
        </p:nvSpPr>
        <p:spPr>
          <a:xfrm>
            <a:off x="7040880" y="1298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Erreurs détectées tôt</a:t>
            </a:r>
            <a:endParaRPr lang="en-US" sz="1400" dirty="0"/>
          </a:p>
        </p:txBody>
      </p:sp>
      <p:sp>
        <p:nvSpPr>
          <p:cNvPr id="10" name="Libelle_159"/>
          <p:cNvSpPr txBox="1"/>
          <p:nvPr/>
        </p:nvSpPr>
        <p:spPr>
          <a:xfrm>
            <a:off x="7040880" y="16276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Format de l'identifiant vérifié avant l'appel à l'API</a:t>
            </a:r>
            <a:endParaRPr lang="en-US" sz="1200" dirty="0"/>
          </a:p>
        </p:txBody>
      </p:sp>
      <p:sp>
        <p:nvSpPr>
          <p:cNvPr id="11" name="Regle_160"/>
          <p:cNvSpPr/>
          <p:nvPr/>
        </p:nvSpPr>
        <p:spPr>
          <a:xfrm>
            <a:off x="45720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ero_161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ibelle_162"/>
          <p:cNvSpPr txBox="1"/>
          <p:nvPr/>
        </p:nvSpPr>
        <p:spPr>
          <a:xfrm>
            <a:off x="137160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Tolérance à l'oral</a:t>
            </a:r>
            <a:endParaRPr lang="en-US" sz="1400" dirty="0"/>
          </a:p>
        </p:txBody>
      </p:sp>
      <p:sp>
        <p:nvSpPr>
          <p:cNvPr id="14" name="Libelle_163"/>
          <p:cNvSpPr txBox="1"/>
          <p:nvPr/>
        </p:nvSpPr>
        <p:spPr>
          <a:xfrm>
            <a:off x="137160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Comparaison souple du nom : majuscules, accents et formes juridiques ignorés</a:t>
            </a:r>
            <a:endParaRPr lang="en-US" sz="1200" dirty="0"/>
          </a:p>
        </p:txBody>
      </p:sp>
      <p:sp>
        <p:nvSpPr>
          <p:cNvPr id="15" name="Regle_164"/>
          <p:cNvSpPr/>
          <p:nvPr/>
        </p:nvSpPr>
        <p:spPr>
          <a:xfrm>
            <a:off x="6126480" y="246888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ero_165"/>
          <p:cNvSpPr/>
          <p:nvPr/>
        </p:nvSpPr>
        <p:spPr>
          <a:xfrm>
            <a:off x="6309360" y="2743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belle_166"/>
          <p:cNvSpPr txBox="1"/>
          <p:nvPr/>
        </p:nvSpPr>
        <p:spPr>
          <a:xfrm>
            <a:off x="704088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Relecture ciblée</a:t>
            </a:r>
            <a:endParaRPr lang="en-US" sz="1400" dirty="0"/>
          </a:p>
        </p:txBody>
      </p:sp>
      <p:sp>
        <p:nvSpPr>
          <p:cNvPr id="18" name="Libelle_167"/>
          <p:cNvSpPr txBox="1"/>
          <p:nvPr/>
        </p:nvSpPr>
        <p:spPr>
          <a:xfrm>
            <a:off x="7040880" y="29077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 numéros ne sont relus au client qu'en cas d'échec</a:t>
            </a:r>
            <a:endParaRPr lang="en-US" sz="1200" dirty="0"/>
          </a:p>
        </p:txBody>
      </p:sp>
      <p:sp>
        <p:nvSpPr>
          <p:cNvPr id="19" name="Regle_168"/>
          <p:cNvSpPr/>
          <p:nvPr/>
        </p:nvSpPr>
        <p:spPr>
          <a:xfrm>
            <a:off x="457200" y="374904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ero_16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Libelle_170"/>
          <p:cNvSpPr txBox="1"/>
          <p:nvPr/>
        </p:nvSpPr>
        <p:spPr>
          <a:xfrm>
            <a:off x="1371600" y="3858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Réponses instantanées</a:t>
            </a:r>
            <a:endParaRPr lang="en-US" sz="1400" dirty="0"/>
          </a:p>
        </p:txBody>
      </p:sp>
      <p:sp>
        <p:nvSpPr>
          <p:cNvPr id="22" name="Libelle_171"/>
          <p:cNvSpPr txBox="1"/>
          <p:nvPr/>
        </p:nvSpPr>
        <p:spPr>
          <a:xfrm>
            <a:off x="1371600" y="4187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seul appel par contrat ; les questions sont traitées depuis la ligne en mémoire</a:t>
            </a:r>
            <a:endParaRPr lang="en-US" sz="1200" dirty="0"/>
          </a:p>
        </p:txBody>
      </p:sp>
      <p:sp>
        <p:nvSpPr>
          <p:cNvPr id="23" name="Regle_172"/>
          <p:cNvSpPr/>
          <p:nvPr/>
        </p:nvSpPr>
        <p:spPr>
          <a:xfrm>
            <a:off x="6126480" y="374904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ero_173"/>
          <p:cNvSpPr/>
          <p:nvPr/>
        </p:nvSpPr>
        <p:spPr>
          <a:xfrm>
            <a:off x="6309360" y="40233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Libelle_174"/>
          <p:cNvSpPr txBox="1"/>
          <p:nvPr/>
        </p:nvSpPr>
        <p:spPr>
          <a:xfrm>
            <a:off x="7040880" y="3858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 de confusion</a:t>
            </a:r>
            <a:endParaRPr lang="en-US" sz="1400" dirty="0"/>
          </a:p>
        </p:txBody>
      </p:sp>
      <p:sp>
        <p:nvSpPr>
          <p:cNvPr id="26" name="Libelle_175"/>
          <p:cNvSpPr txBox="1"/>
          <p:nvPr/>
        </p:nvSpPr>
        <p:spPr>
          <a:xfrm>
            <a:off x="7040880" y="41879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statut du contrat (en cours ou terminé) est annoncé dès qu'il est trouvé</a:t>
            </a:r>
            <a:endParaRPr lang="en-US" sz="1200" dirty="0"/>
          </a:p>
        </p:txBody>
      </p:sp>
      <p:sp>
        <p:nvSpPr>
          <p:cNvPr id="27" name="Regle_176"/>
          <p:cNvSpPr/>
          <p:nvPr/>
        </p:nvSpPr>
        <p:spPr>
          <a:xfrm>
            <a:off x="45720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Numero_177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9" name="Libelle_178"/>
          <p:cNvSpPr txBox="1"/>
          <p:nvPr/>
        </p:nvSpPr>
        <p:spPr>
          <a:xfrm>
            <a:off x="137160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Sécurité</a:t>
            </a:r>
            <a:endParaRPr lang="en-US" sz="1400" dirty="0"/>
          </a:p>
        </p:txBody>
      </p:sp>
      <p:sp>
        <p:nvSpPr>
          <p:cNvPr id="30" name="Libelle_179"/>
          <p:cNvSpPr txBox="1"/>
          <p:nvPr/>
        </p:nvSpPr>
        <p:spPr>
          <a:xfrm>
            <a:off x="1371600" y="5468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essais maximum par étape ; désignation jamais lue au client ; même message si contrat absent</a:t>
            </a:r>
            <a:endParaRPr lang="en-US" sz="1200" dirty="0"/>
          </a:p>
        </p:txBody>
      </p:sp>
      <p:sp>
        <p:nvSpPr>
          <p:cNvPr id="31" name="Regle_180"/>
          <p:cNvSpPr/>
          <p:nvPr/>
        </p:nvSpPr>
        <p:spPr>
          <a:xfrm>
            <a:off x="6126480" y="5029200"/>
            <a:ext cx="54864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umero_181"/>
          <p:cNvSpPr/>
          <p:nvPr/>
        </p:nvSpPr>
        <p:spPr>
          <a:xfrm>
            <a:off x="6309360" y="530352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3" name="Libelle_182"/>
          <p:cNvSpPr txBox="1"/>
          <p:nvPr/>
        </p:nvSpPr>
        <p:spPr>
          <a:xfrm>
            <a:off x="7040880" y="5138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 de silence</a:t>
            </a:r>
            <a:endParaRPr lang="en-US" sz="1400" dirty="0"/>
          </a:p>
        </p:txBody>
      </p:sp>
      <p:sp>
        <p:nvSpPr>
          <p:cNvPr id="34" name="Libelle_183"/>
          <p:cNvSpPr txBox="1"/>
          <p:nvPr/>
        </p:nvSpPr>
        <p:spPr>
          <a:xfrm>
            <a:off x="7040880" y="546811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 cas d'erreur API : 1 nouvel essai, puis message clair (Fin B)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Chiffrage</a:t>
            </a:r>
            <a:endParaRPr lang="en-US" sz="2800" dirty="0"/>
          </a:p>
        </p:txBody>
      </p:sp>
      <p:graphicFrame>
        <p:nvGraphicFramePr>
          <p:cNvPr id="11" name="Tableau_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766560"/>
                <a:gridCol w="91440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Étape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Jours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 de prod : schéma, utilisateur lecture seule pour l'API, utilisateur d'écriture pour le 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Flow : chargement du CSV.gz vers PostgreSQL, colonnes pays et identifiant nettoyé, typage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Contrôles qualité (schéma, volumétrie, doublons, valeurs vides, désignations incohérentes), blocage si échec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Index, scénario de mise à jour hors heures d'appel, alertes en cas d'échec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Service API : endpoints identify et contract, tests unitaires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Déploiement lab → prod, connexion, pilote JDBC, clé API, réglage du pool de connexions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Tests de bout en bout avec le chatbot et test de charge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otal_185"/>
          <p:cNvSpPr/>
          <p:nvPr/>
        </p:nvSpPr>
        <p:spPr>
          <a:xfrm>
            <a:off x="9052560" y="1188720"/>
            <a:ext cx="265176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belle_186"/>
          <p:cNvSpPr txBox="1"/>
          <p:nvPr/>
        </p:nvSpPr>
        <p:spPr>
          <a:xfrm>
            <a:off x="923544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15 jours</a:t>
            </a:r>
            <a:endParaRPr lang="en-US" sz="4000" dirty="0"/>
          </a:p>
        </p:txBody>
      </p:sp>
      <p:sp>
        <p:nvSpPr>
          <p:cNvPr id="6" name="Libelle_187"/>
          <p:cNvSpPr txBox="1"/>
          <p:nvPr/>
        </p:nvSpPr>
        <p:spPr>
          <a:xfrm>
            <a:off x="923544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Développeur confirmé, profil MLOps / data engineering</a:t>
            </a:r>
            <a:endParaRPr lang="en-US" sz="1200" dirty="0"/>
          </a:p>
        </p:txBody>
      </p:sp>
      <p:sp>
        <p:nvSpPr>
          <p:cNvPr id="7" name="Libelle_188"/>
          <p:cNvSpPr txBox="1"/>
          <p:nvPr/>
        </p:nvSpPr>
        <p:spPr>
          <a:xfrm>
            <a:off x="9052560" y="37947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Hors cadrage, supervision, documentation, passation et marge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Points ouverts</a:t>
            </a:r>
            <a:endParaRPr lang="en-US" sz="2800" dirty="0"/>
          </a:p>
        </p:txBody>
      </p:sp>
      <p:sp>
        <p:nvSpPr>
          <p:cNvPr id="3" name="Point_189"/>
          <p:cNvSpPr/>
          <p:nvPr/>
        </p:nvSpPr>
        <p:spPr>
          <a:xfrm>
            <a:off x="457200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Numero_190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Libelle_191"/>
          <p:cNvSpPr txBox="1"/>
          <p:nvPr/>
        </p:nvSpPr>
        <p:spPr>
          <a:xfrm>
            <a:off x="13716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Canal de repli</a:t>
            </a:r>
            <a:endParaRPr lang="en-US" sz="1500" dirty="0"/>
          </a:p>
        </p:txBody>
      </p:sp>
      <p:sp>
        <p:nvSpPr>
          <p:cNvPr id="6" name="Libelle_192"/>
          <p:cNvSpPr txBox="1"/>
          <p:nvPr/>
        </p:nvSpPr>
        <p:spPr>
          <a:xfrm>
            <a:off x="685800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canal indiquer au client en Fin A (email, site, espace client) ?</a:t>
            </a:r>
            <a:endParaRPr lang="en-US" sz="1300" dirty="0"/>
          </a:p>
        </p:txBody>
      </p:sp>
      <p:sp>
        <p:nvSpPr>
          <p:cNvPr id="7" name="Point_193"/>
          <p:cNvSpPr/>
          <p:nvPr/>
        </p:nvSpPr>
        <p:spPr>
          <a:xfrm>
            <a:off x="4224528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Numero_194"/>
          <p:cNvSpPr/>
          <p:nvPr/>
        </p:nvSpPr>
        <p:spPr>
          <a:xfrm>
            <a:off x="4453128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Libelle_195"/>
          <p:cNvSpPr txBox="1"/>
          <p:nvPr/>
        </p:nvSpPr>
        <p:spPr>
          <a:xfrm>
            <a:off x="5138928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Numéro appelé</a:t>
            </a:r>
            <a:endParaRPr lang="en-US" sz="1500" dirty="0"/>
          </a:p>
        </p:txBody>
      </p:sp>
      <p:sp>
        <p:nvSpPr>
          <p:cNvPr id="10" name="Libelle_196"/>
          <p:cNvSpPr txBox="1"/>
          <p:nvPr/>
        </p:nvSpPr>
        <p:spPr>
          <a:xfrm>
            <a:off x="4453128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téléphonie fournit-elle le numéro appelé pour déduire le pays ?</a:t>
            </a:r>
            <a:endParaRPr lang="en-US" sz="1300" dirty="0"/>
          </a:p>
        </p:txBody>
      </p:sp>
      <p:sp>
        <p:nvSpPr>
          <p:cNvPr id="11" name="Point_197"/>
          <p:cNvSpPr/>
          <p:nvPr/>
        </p:nvSpPr>
        <p:spPr>
          <a:xfrm>
            <a:off x="7991856" y="128016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Numero_198"/>
          <p:cNvSpPr/>
          <p:nvPr/>
        </p:nvSpPr>
        <p:spPr>
          <a:xfrm>
            <a:off x="8220456" y="150876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Libelle_199"/>
          <p:cNvSpPr txBox="1"/>
          <p:nvPr/>
        </p:nvSpPr>
        <p:spPr>
          <a:xfrm>
            <a:off x="8906256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Code UK</a:t>
            </a:r>
            <a:endParaRPr lang="en-US" sz="1500" dirty="0"/>
          </a:p>
        </p:txBody>
      </p:sp>
      <p:sp>
        <p:nvSpPr>
          <p:cNvPr id="14" name="Libelle_200"/>
          <p:cNvSpPr txBox="1"/>
          <p:nvPr/>
        </p:nvSpPr>
        <p:spPr>
          <a:xfrm>
            <a:off x="8220456" y="22402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est le format exact du code UK, pour vérifier sa validité ?</a:t>
            </a:r>
            <a:endParaRPr lang="en-US" sz="1300" dirty="0"/>
          </a:p>
        </p:txBody>
      </p:sp>
      <p:sp>
        <p:nvSpPr>
          <p:cNvPr id="15" name="Point_201"/>
          <p:cNvSpPr/>
          <p:nvPr/>
        </p:nvSpPr>
        <p:spPr>
          <a:xfrm>
            <a:off x="45720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6" name="Numero_202"/>
          <p:cNvSpPr/>
          <p:nvPr/>
        </p:nvSpPr>
        <p:spPr>
          <a:xfrm>
            <a:off x="685800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Libelle_203"/>
          <p:cNvSpPr txBox="1"/>
          <p:nvPr/>
        </p:nvSpPr>
        <p:spPr>
          <a:xfrm>
            <a:off x="1371600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N° de contrat inconnu</a:t>
            </a:r>
            <a:endParaRPr lang="en-US" sz="1500" dirty="0"/>
          </a:p>
        </p:txBody>
      </p:sp>
      <p:sp>
        <p:nvSpPr>
          <p:cNvPr id="18" name="Libelle_204"/>
          <p:cNvSpPr txBox="1"/>
          <p:nvPr/>
        </p:nvSpPr>
        <p:spPr>
          <a:xfrm>
            <a:off x="685800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 faire si le client ne connaît pas son n° de contrat ? Une liste demanderait un 3e endpoint</a:t>
            </a:r>
            <a:endParaRPr lang="en-US" sz="1300" dirty="0"/>
          </a:p>
        </p:txBody>
      </p:sp>
      <p:sp>
        <p:nvSpPr>
          <p:cNvPr id="19" name="Point_205"/>
          <p:cNvSpPr/>
          <p:nvPr/>
        </p:nvSpPr>
        <p:spPr>
          <a:xfrm>
            <a:off x="4224528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Numero_206"/>
          <p:cNvSpPr/>
          <p:nvPr/>
        </p:nvSpPr>
        <p:spPr>
          <a:xfrm>
            <a:off x="4453128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Libelle_207"/>
          <p:cNvSpPr txBox="1"/>
          <p:nvPr/>
        </p:nvSpPr>
        <p:spPr>
          <a:xfrm>
            <a:off x="5138928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Authentification</a:t>
            </a:r>
            <a:endParaRPr lang="en-US" sz="1500" dirty="0"/>
          </a:p>
        </p:txBody>
      </p:sp>
      <p:sp>
        <p:nvSpPr>
          <p:cNvPr id="22" name="Libelle_208"/>
          <p:cNvSpPr txBox="1"/>
          <p:nvPr/>
        </p:nvSpPr>
        <p:spPr>
          <a:xfrm>
            <a:off x="4453128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mode d'authentification le chatbot attend-il ?</a:t>
            </a:r>
            <a:endParaRPr lang="en-US" sz="1300" dirty="0"/>
          </a:p>
        </p:txBody>
      </p:sp>
      <p:sp>
        <p:nvSpPr>
          <p:cNvPr id="23" name="Point_209"/>
          <p:cNvSpPr/>
          <p:nvPr/>
        </p:nvSpPr>
        <p:spPr>
          <a:xfrm>
            <a:off x="7991856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Numero_210"/>
          <p:cNvSpPr/>
          <p:nvPr/>
        </p:nvSpPr>
        <p:spPr>
          <a:xfrm>
            <a:off x="8220456" y="3886200"/>
            <a:ext cx="548640" cy="54864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Libelle_211"/>
          <p:cNvSpPr txBox="1"/>
          <p:nvPr/>
        </p:nvSpPr>
        <p:spPr>
          <a:xfrm>
            <a:off x="8906256" y="3886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Version Dataiku</a:t>
            </a:r>
            <a:endParaRPr lang="en-US" sz="1500" dirty="0"/>
          </a:p>
        </p:txBody>
      </p:sp>
      <p:sp>
        <p:nvSpPr>
          <p:cNvPr id="26" name="Libelle_212"/>
          <p:cNvSpPr txBox="1"/>
          <p:nvPr/>
        </p:nvSpPr>
        <p:spPr>
          <a:xfrm>
            <a:off x="8220456" y="46177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Vérifier les fonctionnements décrits sur la documentation 13.2 (doc consultée : version 15)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B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I Chatbot Contrats">
  <a:themeElements>
    <a:clrScheme name="API Chatbot Contrats">
      <a:dk1>
        <a:srgbClr val="1F2421"/>
      </a:dk1>
      <a:lt1>
        <a:srgbClr val="FFFFFF"/>
      </a:lt1>
      <a:dk2>
        <a:srgbClr val="00573F"/>
      </a:dk2>
      <a:lt2>
        <a:srgbClr val="EAF4EF"/>
      </a:lt2>
      <a:accent1>
        <a:srgbClr val="00855F"/>
      </a:accent1>
      <a:accent2>
        <a:srgbClr val="9CCDB5"/>
      </a:accent2>
      <a:accent3>
        <a:srgbClr val="5F6B66"/>
      </a:accent3>
      <a:accent4>
        <a:srgbClr val="B23B2E"/>
      </a:accent4>
      <a:accent5>
        <a:srgbClr val="D9DEDB"/>
      </a:accent5>
      <a:accent6>
        <a:srgbClr val="F3F5F4"/>
      </a:accent6>
      <a:hlink>
        <a:srgbClr val="00855F"/>
      </a:hlink>
      <a:folHlink>
        <a:srgbClr val="5F6B66"/>
      </a:folHlink>
    </a:clrScheme>
    <a:fontScheme name="API Chatbot Contra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d'exposition des contrats pour le chatbot</dc:title>
  <dc:subject>PptxGenJS Presentation</dc:subject>
  <dc:creator>PptxGenJS</dc:creator>
  <cp:lastModifiedBy>PptxGenJS</cp:lastModifiedBy>
  <cp:revision>1</cp:revision>
  <dcterms:created xsi:type="dcterms:W3CDTF">2026-10-14T10:46:35Z</dcterms:created>
  <dcterms:modified xsi:type="dcterms:W3CDTF">2026-10-14T10:46:35Z</dcterms:modified>
</cp:coreProperties>
</file>